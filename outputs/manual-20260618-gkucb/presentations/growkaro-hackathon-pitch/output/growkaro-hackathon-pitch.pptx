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091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610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342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42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42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42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42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42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42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42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2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42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2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42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42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42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42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42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42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42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42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42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42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143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143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1143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1143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1143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143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43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43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143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143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143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143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143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543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543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543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543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1543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1543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1543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543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543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543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543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943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943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43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943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943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43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943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943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1943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1943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1943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943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943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2343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2343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2343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343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43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343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343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43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343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343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343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343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2343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2743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2743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2743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2743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2743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2743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743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743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743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43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743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743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743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143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143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43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143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3143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3143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3143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3143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3143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3143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3143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3143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3143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543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543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43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543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543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543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543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3543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3543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3543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3543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3543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3543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3943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3943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3943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943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943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943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943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43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943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943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3943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3943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3943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3434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3434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3434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3434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3434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43434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43434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43434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43434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43434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43434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3434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434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7434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7434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7434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7434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7434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7434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434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7434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47434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47434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47434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47434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47434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1435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1435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1435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51435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51435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51435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51435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51435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51435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51435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51435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1435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435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5435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5435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5435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435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5435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5435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55435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55435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55435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55435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55435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55435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55435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59436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9436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9436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9436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9436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9436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9436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9436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9436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59436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59436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59436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59436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63436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63436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63436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63436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63436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63436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63436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63436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63436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63436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63436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63436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63436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67437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67437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67437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67437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67437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67437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67437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67437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67437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67437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67437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67437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67437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71437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71437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1437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1437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1437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1437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1437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1437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1437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71437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71437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71437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71437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75438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75438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75438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75438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75438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5438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5438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5438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438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5438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5438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75438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79438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79438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79438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79438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79438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79438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79438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79438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79438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9438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9438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9438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9438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343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343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343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343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343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8343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8343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8343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8343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343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343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8343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8343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8743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8743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8743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743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743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743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743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743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8743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8743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8743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8743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8743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9144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9144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9144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9144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9144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9144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9144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9144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9144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9144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9144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44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144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544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544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9544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9544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9544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9544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9544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9544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9544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9544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9544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9544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9544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9944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944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944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944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944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9944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9944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9944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9944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9944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9944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9944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9944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10344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10344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10344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10344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10344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10344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10344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10344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344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344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344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10344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10344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10744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10744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10744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10744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10744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10744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10744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10744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10744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10744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10744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744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744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1144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11144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11144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11144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11144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11144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11144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11144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11144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11144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11144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11144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11144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11544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1544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1544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1544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11544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11544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11544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11544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11544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11544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11544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11544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11544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11944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11944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11944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11944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1944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1944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1944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11944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11944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11944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11944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11944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11944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kicker-hackathon pitch-marker"/>
          <p:cNvSpPr>
            <a:spLocks noGrp="1"/>
          </p:cNvSpPr>
          <p:nvPr/>
        </p:nvSpPr>
        <p:spPr>
          <a:xfrm>
            <a:off x="495300" y="419100"/>
            <a:ext cx="95250" cy="952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kicker-hackathon pitch-label"/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HACKATHON PITCH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7" name="Rectangle 396"/>
          <p:cNvSpPr>
            <a:spLocks noGrp="1"/>
          </p:cNvSpPr>
          <p:nvPr/>
        </p:nvSpPr>
        <p:spPr>
          <a:xfrm>
            <a:off x="495300" y="1047750"/>
            <a:ext cx="6191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GrowKaro turns click history into smarter ad budget decisions.</a:t>
            </a:r>
            <a:endParaRPr sz="375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98" name="Rectangle 397"/>
          <p:cNvSpPr>
            <a:spLocks noGrp="1"/>
          </p:cNvSpPr>
          <p:nvPr/>
        </p:nvSpPr>
        <p:spPr>
          <a:xfrm>
            <a:off x="533400" y="278130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A full-stack reinforcement-learning platform that helps local businesses upload ad results, learn the strongest creative, and explain the next budget move in plain language.</a:t>
            </a:r>
            <a:endParaRPr sz="15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9" name="Rectangle 398"/>
          <p:cNvSpPr>
            <a:spLocks noGrp="1"/>
          </p:cNvSpPr>
          <p:nvPr/>
        </p:nvSpPr>
        <p:spPr>
          <a:xfrm>
            <a:off x="6762750" y="1085850"/>
            <a:ext cx="4933950" cy="3409950"/>
          </a:xfrm>
          <a:prstGeom prst="rect">
            <a:avLst/>
          </a:prstGeom>
          <a:solidFill>
            <a:srgbClr val="0A1512"/>
          </a:solidFill>
          <a:ln w="9525">
            <a:solidFill>
              <a:srgbClr val="326451"/>
            </a:solidFill>
            <a:prstDash val="solid"/>
          </a:ln>
        </p:spPr>
      </p:sp>
      <p:pic>
        <p:nvPicPr>
          <p:cNvPr id="400" name="Picture 399"/>
          <p:cNvPicPr>
            <a:picLocks noChangeAspect="1"/>
          </p:cNvPicPr>
          <p:nvPr/>
        </p:nvPicPr>
        <p:blipFill>
          <a:blip r:embed="rId1"/>
          <a:srcRect l="7013" r="7013"/>
          <a:stretch>
            <a:fillRect/>
          </a:stretch>
        </p:blipFill>
        <p:spPr>
          <a:xfrm>
            <a:off x="6915150" y="1257300"/>
            <a:ext cx="4629150" cy="3067050"/>
          </a:xfrm>
          <a:prstGeom prst="rect">
            <a:avLst/>
          </a:prstGeom>
        </p:spPr>
      </p:pic>
      <p:sp>
        <p:nvSpPr>
          <p:cNvPr id="401" name="Rectangle 400"/>
          <p:cNvSpPr>
            <a:spLocks noGrp="1"/>
          </p:cNvSpPr>
          <p:nvPr/>
        </p:nvSpPr>
        <p:spPr>
          <a:xfrm>
            <a:off x="6915150" y="4438650"/>
            <a:ext cx="462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8378"/>
                </a:solidFill>
                <a:latin typeface="Aptos"/>
                <a:ea typeface="Aptos"/>
                <a:cs typeface="Aptos"/>
              </a:rPr>
              <a:t>Product proof from the current repo UI</a:t>
            </a:r>
            <a:endParaRPr sz="900" b="0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2" name="Rectangle 401"/>
          <p:cNvSpPr>
            <a:spLocks noGrp="1"/>
          </p:cNvSpPr>
          <p:nvPr/>
        </p:nvSpPr>
        <p:spPr>
          <a:xfrm>
            <a:off x="533400" y="5219700"/>
            <a:ext cx="2238375" cy="1028700"/>
          </a:xfrm>
          <a:prstGeom prst="rect">
            <a:avLst/>
          </a:prstGeom>
          <a:solidFill>
            <a:srgbClr val="10231D"/>
          </a:solidFill>
          <a:ln w="9525">
            <a:solidFill>
              <a:srgbClr val="284B3E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704850" y="5353050"/>
            <a:ext cx="18954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rPr>
              <a:t>10,000</a:t>
            </a:r>
            <a:endParaRPr sz="2100" b="1">
              <a:solidFill>
                <a:srgbClr val="5EF08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4" name="Rectangle 403"/>
          <p:cNvSpPr>
            <a:spLocks noGrp="1"/>
          </p:cNvSpPr>
          <p:nvPr/>
        </p:nvSpPr>
        <p:spPr>
          <a:xfrm>
            <a:off x="704850" y="5695950"/>
            <a:ext cx="18954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FF7"/>
                </a:solidFill>
                <a:latin typeface="Aptos"/>
                <a:ea typeface="Aptos"/>
                <a:cs typeface="Aptos"/>
              </a:rPr>
              <a:t>impressions tested</a:t>
            </a:r>
            <a:endParaRPr sz="900" b="1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5" name="Rectangle 404"/>
          <p:cNvSpPr>
            <a:spLocks noGrp="1"/>
          </p:cNvSpPr>
          <p:nvPr/>
        </p:nvSpPr>
        <p:spPr>
          <a:xfrm>
            <a:off x="704850" y="5905500"/>
            <a:ext cx="18954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included dataset.csv</a:t>
            </a:r>
            <a:endParaRPr sz="8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6" name="Rectangle 405"/>
          <p:cNvSpPr>
            <a:spLocks noGrp="1"/>
          </p:cNvSpPr>
          <p:nvPr/>
        </p:nvSpPr>
        <p:spPr>
          <a:xfrm>
            <a:off x="3009900" y="5219700"/>
            <a:ext cx="1952625" cy="1028700"/>
          </a:xfrm>
          <a:prstGeom prst="rect">
            <a:avLst/>
          </a:prstGeom>
          <a:solidFill>
            <a:srgbClr val="10231D"/>
          </a:solidFill>
          <a:ln w="9525">
            <a:solidFill>
              <a:srgbClr val="284B3E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3181350" y="5353050"/>
            <a:ext cx="1609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1D3F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1D3F2"/>
                </a:solidFill>
                <a:latin typeface="Aptos Display"/>
                <a:ea typeface="Aptos Display"/>
                <a:cs typeface="Aptos Display"/>
              </a:rPr>
              <a:t>10</a:t>
            </a:r>
            <a:endParaRPr sz="2100" b="1">
              <a:solidFill>
                <a:srgbClr val="31D3F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8" name="Rectangle 407"/>
          <p:cNvSpPr>
            <a:spLocks noGrp="1"/>
          </p:cNvSpPr>
          <p:nvPr/>
        </p:nvSpPr>
        <p:spPr>
          <a:xfrm>
            <a:off x="3181350" y="5695950"/>
            <a:ext cx="16097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FF7"/>
                </a:solidFill>
                <a:latin typeface="Aptos"/>
                <a:ea typeface="Aptos"/>
                <a:cs typeface="Aptos"/>
              </a:rPr>
              <a:t>ad variants</a:t>
            </a:r>
            <a:endParaRPr sz="900" b="1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9" name="Rectangle 408"/>
          <p:cNvSpPr>
            <a:spLocks noGrp="1"/>
          </p:cNvSpPr>
          <p:nvPr/>
        </p:nvSpPr>
        <p:spPr>
          <a:xfrm>
            <a:off x="3181350" y="5905500"/>
            <a:ext cx="16097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binary click columns</a:t>
            </a:r>
            <a:endParaRPr sz="8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0" name="Rectangle 409"/>
          <p:cNvSpPr>
            <a:spLocks noGrp="1"/>
          </p:cNvSpPr>
          <p:nvPr/>
        </p:nvSpPr>
        <p:spPr>
          <a:xfrm>
            <a:off x="5200650" y="5219700"/>
            <a:ext cx="1885950" cy="1028700"/>
          </a:xfrm>
          <a:prstGeom prst="rect">
            <a:avLst/>
          </a:prstGeom>
          <a:solidFill>
            <a:srgbClr val="10231D"/>
          </a:solidFill>
          <a:ln w="9525">
            <a:solidFill>
              <a:srgbClr val="284B3E"/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5372100" y="5353050"/>
            <a:ext cx="1543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B9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B94A"/>
                </a:solidFill>
                <a:latin typeface="Aptos Display"/>
                <a:ea typeface="Aptos Display"/>
                <a:cs typeface="Aptos Display"/>
              </a:rPr>
              <a:t>Ad 5</a:t>
            </a:r>
            <a:endParaRPr sz="2100" b="1">
              <a:solidFill>
                <a:srgbClr val="FFB94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2" name="Rectangle 411"/>
          <p:cNvSpPr>
            <a:spLocks noGrp="1"/>
          </p:cNvSpPr>
          <p:nvPr/>
        </p:nvSpPr>
        <p:spPr>
          <a:xfrm>
            <a:off x="5372100" y="569595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FF7"/>
                </a:solidFill>
                <a:latin typeface="Aptos"/>
                <a:ea typeface="Aptos"/>
                <a:cs typeface="Aptos"/>
              </a:rPr>
              <a:t>winner found</a:t>
            </a:r>
            <a:endParaRPr sz="900" b="1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3" name="Rectangle 412"/>
          <p:cNvSpPr>
            <a:spLocks noGrp="1"/>
          </p:cNvSpPr>
          <p:nvPr/>
        </p:nvSpPr>
        <p:spPr>
          <a:xfrm>
            <a:off x="5372100" y="59055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highest observed CTR</a:t>
            </a:r>
            <a:endParaRPr sz="8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4" name="Rectangle 413"/>
          <p:cNvSpPr>
            <a:spLocks noGrp="1"/>
          </p:cNvSpPr>
          <p:nvPr/>
        </p:nvSpPr>
        <p:spPr>
          <a:xfrm>
            <a:off x="7324725" y="5219700"/>
            <a:ext cx="1952625" cy="1028700"/>
          </a:xfrm>
          <a:prstGeom prst="rect">
            <a:avLst/>
          </a:prstGeom>
          <a:solidFill>
            <a:srgbClr val="10231D"/>
          </a:solidFill>
          <a:ln w="9525">
            <a:solidFill>
              <a:srgbClr val="284B3E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7496175" y="5353050"/>
            <a:ext cx="1609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rPr>
              <a:t>UCB</a:t>
            </a:r>
            <a:endParaRPr sz="2100" b="1">
              <a:solidFill>
                <a:srgbClr val="5EF08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6" name="Rectangle 415"/>
          <p:cNvSpPr>
            <a:spLocks noGrp="1"/>
          </p:cNvSpPr>
          <p:nvPr/>
        </p:nvSpPr>
        <p:spPr>
          <a:xfrm>
            <a:off x="7496175" y="5695950"/>
            <a:ext cx="16097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FF7"/>
                </a:solidFill>
                <a:latin typeface="Aptos"/>
                <a:ea typeface="Aptos"/>
                <a:cs typeface="Aptos"/>
              </a:rPr>
              <a:t>explainable RL</a:t>
            </a:r>
            <a:endParaRPr sz="900" b="1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7" name="Rectangle 416"/>
          <p:cNvSpPr>
            <a:spLocks noGrp="1"/>
          </p:cNvSpPr>
          <p:nvPr/>
        </p:nvSpPr>
        <p:spPr>
          <a:xfrm>
            <a:off x="7496175" y="5905500"/>
            <a:ext cx="16097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confidence + reward</a:t>
            </a:r>
            <a:endParaRPr sz="8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8" name="Rectangle 417"/>
          <p:cNvSpPr>
            <a:spLocks noGrp="1"/>
          </p:cNvSpPr>
          <p:nvPr/>
        </p:nvSpPr>
        <p:spPr>
          <a:xfrm>
            <a:off x="495300" y="64579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378"/>
                </a:solidFill>
                <a:latin typeface="Aptos"/>
                <a:ea typeface="Aptos"/>
                <a:cs typeface="Aptos"/>
              </a:rPr>
              <a:t>Sources: repository screenshot, dataset.csv, backend UCB model</a:t>
            </a:r>
            <a:endParaRPr sz="825" b="0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9" name="Rectangle 418"/>
          <p:cNvSpPr>
            <a:spLocks noGrp="1"/>
          </p:cNvSpPr>
          <p:nvPr/>
        </p:nvSpPr>
        <p:spPr>
          <a:xfrm>
            <a:off x="11144250" y="641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01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091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610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342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42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42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42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42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42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42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42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2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42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2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42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42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42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42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42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42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42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42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42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42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143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143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1143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1143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1143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143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43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43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143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143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143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143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143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543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543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543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543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1543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1543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1543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543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543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543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543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943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943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43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943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943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43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943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943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1943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1943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1943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943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943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2343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2343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2343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343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43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343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343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43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343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343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343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343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2343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2743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2743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2743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2743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2743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2743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743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743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743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43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743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743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743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143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143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43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143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3143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3143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3143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3143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3143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3143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3143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3143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3143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543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543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43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543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543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543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543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3543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3543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3543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3543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3543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3543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3943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3943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3943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943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943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943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943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43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943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943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3943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3943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3943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3434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3434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3434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3434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3434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43434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43434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43434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43434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43434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43434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3434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434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7434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7434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7434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7434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7434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7434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434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7434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47434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47434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47434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47434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47434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1435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1435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1435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51435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51435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51435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51435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51435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51435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51435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51435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1435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435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5435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5435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5435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435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5435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5435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55435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55435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55435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55435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55435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55435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55435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59436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9436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9436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9436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9436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9436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9436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9436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9436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59436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59436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59436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59436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63436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63436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63436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63436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63436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63436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63436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63436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63436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63436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63436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63436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63436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67437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67437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67437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67437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67437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67437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67437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67437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67437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67437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67437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67437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67437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71437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71437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1437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1437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1437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1437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1437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1437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1437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71437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71437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71437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71437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75438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75438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75438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75438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75438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5438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5438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5438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438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5438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5438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75438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79438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79438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79438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79438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79438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79438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79438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79438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79438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9438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9438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9438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9438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343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343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343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343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343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8343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8343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8343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8343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343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343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8343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8343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8743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8743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8743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743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743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743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743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743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8743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8743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8743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8743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8743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9144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9144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9144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9144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9144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9144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9144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9144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9144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9144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9144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44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144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544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544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9544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9544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9544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9544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9544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9544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9544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9544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9544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9544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9544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9944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944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944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944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944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9944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9944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9944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9944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9944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9944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9944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9944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10344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10344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10344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10344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10344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10344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10344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10344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344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344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344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10344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10344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10744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10744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10744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10744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10744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10744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10744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10744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10744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10744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10744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744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744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1144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11144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11144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11144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11144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11144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11144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11144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11144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11144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11144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11144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11144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11544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1544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1544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1544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11544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11544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11544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11544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11544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11544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11544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11544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11544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11944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11944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11944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11944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1944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1944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1944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11944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11944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11944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11944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11944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11944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kicker-problem-marker"/>
          <p:cNvSpPr>
            <a:spLocks noGrp="1"/>
          </p:cNvSpPr>
          <p:nvPr/>
        </p:nvSpPr>
        <p:spPr>
          <a:xfrm>
            <a:off x="495300" y="419100"/>
            <a:ext cx="95250" cy="952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kicker-problem-label"/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PROBLEM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7" name="Rectangle 396"/>
          <p:cNvSpPr>
            <a:spLocks noGrp="1"/>
          </p:cNvSpPr>
          <p:nvPr/>
        </p:nvSpPr>
        <p:spPr>
          <a:xfrm>
            <a:off x="495300" y="914400"/>
            <a:ext cx="8572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Local businesses waste budget because ad learning is slow and hard to explain.</a:t>
            </a:r>
            <a:endParaRPr sz="292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98" name="Rectangle 397"/>
          <p:cNvSpPr>
            <a:spLocks noGrp="1"/>
          </p:cNvSpPr>
          <p:nvPr/>
        </p:nvSpPr>
        <p:spPr>
          <a:xfrm>
            <a:off x="533400" y="2266950"/>
            <a:ext cx="4210050" cy="1123950"/>
          </a:xfrm>
          <a:prstGeom prst="rect">
            <a:avLst/>
          </a:prstGeom>
          <a:solidFill>
            <a:srgbClr val="10211B"/>
          </a:solidFill>
          <a:ln w="9525">
            <a:solidFill>
              <a:srgbClr val="2D5544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533400" y="2266950"/>
            <a:ext cx="47625" cy="1123950"/>
          </a:xfrm>
          <a:prstGeom prst="rect">
            <a:avLst/>
          </a:prstGeom>
          <a:solidFill>
            <a:srgbClr val="FFB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704850" y="2419350"/>
            <a:ext cx="38862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Most small teams know which campaign spent money, but not which message deserves the next rupee of budget.</a:t>
            </a:r>
            <a:endParaRPr sz="1350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1" name="Rectangle 400"/>
          <p:cNvSpPr>
            <a:spLocks noGrp="1"/>
          </p:cNvSpPr>
          <p:nvPr/>
        </p:nvSpPr>
        <p:spPr>
          <a:xfrm>
            <a:off x="5219700" y="2095500"/>
            <a:ext cx="3257550" cy="1771650"/>
          </a:xfrm>
          <a:prstGeom prst="rect">
            <a:avLst/>
          </a:prstGeom>
          <a:solidFill>
            <a:srgbClr val="10211B"/>
          </a:solidFill>
          <a:ln w="9525">
            <a:solidFill>
              <a:srgbClr val="2E5444"/>
            </a:solidFill>
            <a:prstDash val="solid"/>
          </a:ln>
        </p:spPr>
      </p:sp>
      <p:sp>
        <p:nvSpPr>
          <p:cNvPr id="402" name="Rectangle 401"/>
          <p:cNvSpPr>
            <a:spLocks noGrp="1"/>
          </p:cNvSpPr>
          <p:nvPr/>
        </p:nvSpPr>
        <p:spPr>
          <a:xfrm>
            <a:off x="5219700" y="2095500"/>
            <a:ext cx="3257550" cy="571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5410200" y="23241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01</a:t>
            </a:r>
            <a:endParaRPr sz="975" b="1">
              <a:solidFill>
                <a:srgbClr val="FF6B6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4" name="Rectangle 403"/>
          <p:cNvSpPr>
            <a:spLocks noGrp="1"/>
          </p:cNvSpPr>
          <p:nvPr/>
        </p:nvSpPr>
        <p:spPr>
          <a:xfrm>
            <a:off x="5410200" y="2647950"/>
            <a:ext cx="278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Too many guesses</a:t>
            </a:r>
            <a:endParaRPr sz="18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5" name="Rectangle 404"/>
          <p:cNvSpPr>
            <a:spLocks noGrp="1"/>
          </p:cNvSpPr>
          <p:nvPr/>
        </p:nvSpPr>
        <p:spPr>
          <a:xfrm>
            <a:off x="5410200" y="3162300"/>
            <a:ext cx="2819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Owners test Facebook, Instagram, local-language copy, and offers without a reliable learning loop.</a:t>
            </a:r>
            <a:endParaRPr sz="11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6" name="Rectangle 405"/>
          <p:cNvSpPr>
            <a:spLocks noGrp="1"/>
          </p:cNvSpPr>
          <p:nvPr/>
        </p:nvSpPr>
        <p:spPr>
          <a:xfrm>
            <a:off x="8477250" y="2095500"/>
            <a:ext cx="3257550" cy="1771650"/>
          </a:xfrm>
          <a:prstGeom prst="rect">
            <a:avLst/>
          </a:prstGeom>
          <a:solidFill>
            <a:srgbClr val="10211B"/>
          </a:solidFill>
          <a:ln w="9525">
            <a:solidFill>
              <a:srgbClr val="2E5444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8477250" y="2095500"/>
            <a:ext cx="3257550" cy="57150"/>
          </a:xfrm>
          <a:prstGeom prst="rect">
            <a:avLst/>
          </a:prstGeom>
          <a:solidFill>
            <a:srgbClr val="FFB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8" name="Rectangle 407"/>
          <p:cNvSpPr>
            <a:spLocks noGrp="1"/>
          </p:cNvSpPr>
          <p:nvPr/>
        </p:nvSpPr>
        <p:spPr>
          <a:xfrm>
            <a:off x="8667750" y="23241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9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94A"/>
                </a:solidFill>
                <a:latin typeface="Aptos"/>
                <a:ea typeface="Aptos"/>
                <a:cs typeface="Aptos"/>
              </a:rPr>
              <a:t>02</a:t>
            </a:r>
            <a:endParaRPr sz="975" b="1">
              <a:solidFill>
                <a:srgbClr val="FFB9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9" name="Rectangle 408"/>
          <p:cNvSpPr>
            <a:spLocks noGrp="1"/>
          </p:cNvSpPr>
          <p:nvPr/>
        </p:nvSpPr>
        <p:spPr>
          <a:xfrm>
            <a:off x="8667750" y="2647950"/>
            <a:ext cx="278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Static reports</a:t>
            </a:r>
            <a:endParaRPr sz="18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0" name="Rectangle 409"/>
          <p:cNvSpPr>
            <a:spLocks noGrp="1"/>
          </p:cNvSpPr>
          <p:nvPr/>
        </p:nvSpPr>
        <p:spPr>
          <a:xfrm>
            <a:off x="8667750" y="3162300"/>
            <a:ext cx="2819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Traditional dashboards show CTR after the fact, but do not decide what to test next.</a:t>
            </a:r>
            <a:endParaRPr sz="11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1" name="Rectangle 410"/>
          <p:cNvSpPr>
            <a:spLocks noGrp="1"/>
          </p:cNvSpPr>
          <p:nvPr/>
        </p:nvSpPr>
        <p:spPr>
          <a:xfrm>
            <a:off x="5219700" y="4076700"/>
            <a:ext cx="3257550" cy="1771650"/>
          </a:xfrm>
          <a:prstGeom prst="rect">
            <a:avLst/>
          </a:prstGeom>
          <a:solidFill>
            <a:srgbClr val="10211B"/>
          </a:solidFill>
          <a:ln w="9525">
            <a:solidFill>
              <a:srgbClr val="2E5444"/>
            </a:solidFill>
            <a:prstDash val="solid"/>
          </a:ln>
        </p:spPr>
      </p:sp>
      <p:sp>
        <p:nvSpPr>
          <p:cNvPr id="412" name="Rectangle 411"/>
          <p:cNvSpPr>
            <a:spLocks noGrp="1"/>
          </p:cNvSpPr>
          <p:nvPr/>
        </p:nvSpPr>
        <p:spPr>
          <a:xfrm>
            <a:off x="5219700" y="4076700"/>
            <a:ext cx="3257550" cy="57150"/>
          </a:xfrm>
          <a:prstGeom prst="rect">
            <a:avLst/>
          </a:prstGeom>
          <a:solidFill>
            <a:srgbClr val="31D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Rectangle 412"/>
          <p:cNvSpPr>
            <a:spLocks noGrp="1"/>
          </p:cNvSpPr>
          <p:nvPr/>
        </p:nvSpPr>
        <p:spPr>
          <a:xfrm>
            <a:off x="5410200" y="43053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1D3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D3F2"/>
                </a:solidFill>
                <a:latin typeface="Aptos"/>
                <a:ea typeface="Aptos"/>
                <a:cs typeface="Aptos"/>
              </a:rPr>
              <a:t>03</a:t>
            </a:r>
            <a:endParaRPr sz="975" b="1">
              <a:solidFill>
                <a:srgbClr val="31D3F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4" name="Rectangle 413"/>
          <p:cNvSpPr>
            <a:spLocks noGrp="1"/>
          </p:cNvSpPr>
          <p:nvPr/>
        </p:nvSpPr>
        <p:spPr>
          <a:xfrm>
            <a:off x="5410200" y="4629150"/>
            <a:ext cx="278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Weak explanation</a:t>
            </a:r>
            <a:endParaRPr sz="18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5" name="Rectangle 414"/>
          <p:cNvSpPr>
            <a:spLocks noGrp="1"/>
          </p:cNvSpPr>
          <p:nvPr/>
        </p:nvSpPr>
        <p:spPr>
          <a:xfrm>
            <a:off x="5410200" y="5143500"/>
            <a:ext cx="2819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A recommendation fails if the owner cannot understand why one ad should get more budget.</a:t>
            </a:r>
            <a:endParaRPr sz="11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6" name="Rectangle 415"/>
          <p:cNvSpPr>
            <a:spLocks noGrp="1"/>
          </p:cNvSpPr>
          <p:nvPr/>
        </p:nvSpPr>
        <p:spPr>
          <a:xfrm>
            <a:off x="8477250" y="4076700"/>
            <a:ext cx="3257550" cy="1771650"/>
          </a:xfrm>
          <a:prstGeom prst="rect">
            <a:avLst/>
          </a:prstGeom>
          <a:solidFill>
            <a:srgbClr val="10211B"/>
          </a:solidFill>
          <a:ln w="9525">
            <a:solidFill>
              <a:srgbClr val="2E5444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8477250" y="4076700"/>
            <a:ext cx="3257550" cy="571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8667750" y="43053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04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9" name="Rectangle 418"/>
          <p:cNvSpPr>
            <a:spLocks noGrp="1"/>
          </p:cNvSpPr>
          <p:nvPr/>
        </p:nvSpPr>
        <p:spPr>
          <a:xfrm>
            <a:off x="8667750" y="4629150"/>
            <a:ext cx="278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Budget leakage</a:t>
            </a:r>
            <a:endParaRPr sz="18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20" name="Rectangle 419"/>
          <p:cNvSpPr>
            <a:spLocks noGrp="1"/>
          </p:cNvSpPr>
          <p:nvPr/>
        </p:nvSpPr>
        <p:spPr>
          <a:xfrm>
            <a:off x="8667750" y="5143500"/>
            <a:ext cx="2819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Manual allocation keeps spending on underperforming creatives longer than necessary.</a:t>
            </a:r>
            <a:endParaRPr sz="11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1" name="Rectangle 420"/>
          <p:cNvSpPr>
            <a:spLocks noGrp="1"/>
          </p:cNvSpPr>
          <p:nvPr/>
        </p:nvSpPr>
        <p:spPr>
          <a:xfrm>
            <a:off x="533400" y="38481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Hackathon problem statement</a:t>
            </a:r>
            <a:endParaRPr sz="1200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2" name="Rectangle 421"/>
          <p:cNvSpPr>
            <a:spLocks noGrp="1"/>
          </p:cNvSpPr>
          <p:nvPr/>
        </p:nvSpPr>
        <p:spPr>
          <a:xfrm>
            <a:off x="533400" y="4171950"/>
            <a:ext cx="4095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Build a practical optimization layer that learns from click/no-click data, recommends the strongest ad, and keeps the explanation simple enough for non-technical business users.</a:t>
            </a:r>
            <a:endParaRPr sz="1500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3" name="Rectangle 422"/>
          <p:cNvSpPr>
            <a:spLocks noGrp="1"/>
          </p:cNvSpPr>
          <p:nvPr/>
        </p:nvSpPr>
        <p:spPr>
          <a:xfrm>
            <a:off x="495300" y="64579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378"/>
                </a:solidFill>
                <a:latin typeface="Aptos"/>
                <a:ea typeface="Aptos"/>
                <a:cs typeface="Aptos"/>
              </a:rPr>
              <a:t>Sources: README/project purpose, frontend product copy</a:t>
            </a:r>
            <a:endParaRPr sz="825" b="0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4" name="Rectangle 423"/>
          <p:cNvSpPr>
            <a:spLocks noGrp="1"/>
          </p:cNvSpPr>
          <p:nvPr/>
        </p:nvSpPr>
        <p:spPr>
          <a:xfrm>
            <a:off x="11144250" y="641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02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091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610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342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42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42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42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42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42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42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42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2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42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2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42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42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42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42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42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42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42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42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42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42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143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143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1143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1143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1143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143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43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43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143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143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143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143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143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543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543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543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543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1543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1543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1543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543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543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543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543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943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943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43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943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943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43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943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943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1943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1943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1943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943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943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2343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2343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2343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343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43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343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343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43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343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343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343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343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2343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2743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2743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2743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2743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2743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2743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743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743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743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43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743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743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743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143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143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43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143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3143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3143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3143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3143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3143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3143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3143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3143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3143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543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543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43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543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543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543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543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3543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3543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3543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3543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3543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3543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3943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3943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3943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943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943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943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943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43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943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943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3943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3943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3943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3434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3434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3434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3434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3434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43434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43434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43434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43434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43434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43434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3434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434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7434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7434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7434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7434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7434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7434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434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7434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47434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47434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47434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47434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47434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1435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1435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1435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51435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51435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51435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51435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51435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51435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51435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51435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1435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435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5435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5435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5435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435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5435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5435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55435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55435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55435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55435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55435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55435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55435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59436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9436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9436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9436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9436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9436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9436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9436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9436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59436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59436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59436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59436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63436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63436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63436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63436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63436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63436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63436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63436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63436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63436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63436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63436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63436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67437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67437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67437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67437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67437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67437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67437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67437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67437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67437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67437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67437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67437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71437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71437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1437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1437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1437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1437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1437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1437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1437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71437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71437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71437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71437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75438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75438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75438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75438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75438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5438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5438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5438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438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5438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5438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75438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79438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79438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79438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79438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79438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79438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79438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79438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79438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9438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9438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9438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9438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343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343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343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343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343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8343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8343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8343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8343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343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343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8343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8343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8743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8743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8743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743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743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743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743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743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8743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8743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8743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8743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8743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9144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9144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9144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9144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9144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9144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9144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9144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9144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9144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9144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44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144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544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544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9544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9544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9544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9544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9544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9544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9544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9544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9544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9544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9544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9944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944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944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944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944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9944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9944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9944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9944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9944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9944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9944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9944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10344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10344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10344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10344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10344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10344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10344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10344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344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344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344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10344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10344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10744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10744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10744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10744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10744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10744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10744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10744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10744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10744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10744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744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744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1144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11144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11144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11144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11144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11144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11144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11144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11144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11144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11144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11144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11144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11544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1544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1544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1544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11544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11544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11544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11544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11544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11544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11544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11544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11544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11944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11944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11944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11944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1944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1944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1944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11944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11944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11944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11944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11944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11944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kicker-solution-marker"/>
          <p:cNvSpPr>
            <a:spLocks noGrp="1"/>
          </p:cNvSpPr>
          <p:nvPr/>
        </p:nvSpPr>
        <p:spPr>
          <a:xfrm>
            <a:off x="495300" y="419100"/>
            <a:ext cx="95250" cy="952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kicker-solution-label"/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SOLUTION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7" name="Rectangle 396"/>
          <p:cNvSpPr>
            <a:spLocks noGrp="1"/>
          </p:cNvSpPr>
          <p:nvPr/>
        </p:nvSpPr>
        <p:spPr>
          <a:xfrm>
            <a:off x="495300" y="876300"/>
            <a:ext cx="8286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An explainable confidence engine picks the best ad while still learning.</a:t>
            </a:r>
            <a:endParaRPr sz="285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98" name="Rectangle 397"/>
          <p:cNvSpPr>
            <a:spLocks noGrp="1"/>
          </p:cNvSpPr>
          <p:nvPr/>
        </p:nvSpPr>
        <p:spPr>
          <a:xfrm>
            <a:off x="647700" y="2133600"/>
            <a:ext cx="5219700" cy="2343150"/>
          </a:xfrm>
          <a:prstGeom prst="rect">
            <a:avLst/>
          </a:prstGeom>
          <a:solidFill>
            <a:srgbClr val="0B1915"/>
          </a:solidFill>
          <a:ln w="9525">
            <a:solidFill>
              <a:srgbClr val="35634F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876300" y="23622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rPr>
              <a:t>Upper Confidence Bound</a:t>
            </a:r>
            <a:endParaRPr sz="1725" b="1">
              <a:solidFill>
                <a:srgbClr val="5EF08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0" name="Rectangle 399"/>
          <p:cNvSpPr>
            <a:spLocks noGrp="1"/>
          </p:cNvSpPr>
          <p:nvPr/>
        </p:nvSpPr>
        <p:spPr>
          <a:xfrm>
            <a:off x="895350" y="2914650"/>
            <a:ext cx="44958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F4FFF7"/>
                </a:solidFill>
                <a:latin typeface="Aptos Mono"/>
                <a:ea typeface="Aptos Mono"/>
                <a:cs typeface="Aptos Mono"/>
              </a:defRPr>
            </a:pPr>
            <a:r>
              <a:rPr sz="1875" b="0">
                <a:solidFill>
                  <a:srgbClr val="F4FFF7"/>
                </a:solidFill>
                <a:latin typeface="Aptos Mono"/>
                <a:ea typeface="Aptos Mono"/>
                <a:cs typeface="Aptos Mono"/>
              </a:rPr>
              <a:t>upper_bound = average_reward + sqrt((3 / 2) * log(n + 1) / selections)</a:t>
            </a:r>
            <a:endParaRPr sz="1875" b="0">
              <a:solidFill>
                <a:srgbClr val="F4FFF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01" name="Rectangle 400"/>
          <p:cNvSpPr>
            <a:spLocks noGrp="1"/>
          </p:cNvSpPr>
          <p:nvPr/>
        </p:nvSpPr>
        <p:spPr>
          <a:xfrm>
            <a:off x="895350" y="3790950"/>
            <a:ext cx="4324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The score increases when an ad performs well and also when uncertainty is high, so the model can explore early and exploit once enough evidence arrives.</a:t>
            </a:r>
            <a:endParaRPr sz="1200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2" name="Rectangle 401"/>
          <p:cNvSpPr>
            <a:spLocks noGrp="1"/>
          </p:cNvSpPr>
          <p:nvPr/>
        </p:nvSpPr>
        <p:spPr>
          <a:xfrm>
            <a:off x="895350" y="4781550"/>
            <a:ext cx="1695450" cy="304800"/>
          </a:xfrm>
          <a:prstGeom prst="rect">
            <a:avLst/>
          </a:prstGeom>
          <a:solidFill>
            <a:srgbClr val="173027"/>
          </a:solidFill>
          <a:ln w="9525">
            <a:solidFill>
              <a:srgbClr val="315946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1009650" y="48387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explore untested ads</a:t>
            </a:r>
            <a:endParaRPr sz="900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4" name="Rectangle 403"/>
          <p:cNvSpPr>
            <a:spLocks noGrp="1"/>
          </p:cNvSpPr>
          <p:nvPr/>
        </p:nvSpPr>
        <p:spPr>
          <a:xfrm>
            <a:off x="2781300" y="4781550"/>
            <a:ext cx="1695450" cy="304800"/>
          </a:xfrm>
          <a:prstGeom prst="rect">
            <a:avLst/>
          </a:prstGeom>
          <a:solidFill>
            <a:srgbClr val="173027"/>
          </a:solidFill>
          <a:ln w="9525">
            <a:solidFill>
              <a:srgbClr val="315946"/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2895600" y="48387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31D3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D3F2"/>
                </a:solidFill>
                <a:latin typeface="Aptos"/>
                <a:ea typeface="Aptos"/>
                <a:cs typeface="Aptos"/>
              </a:rPr>
              <a:t>rank by confidence</a:t>
            </a:r>
            <a:endParaRPr sz="900" b="1">
              <a:solidFill>
                <a:srgbClr val="31D3F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6" name="Rectangle 405"/>
          <p:cNvSpPr>
            <a:spLocks noGrp="1"/>
          </p:cNvSpPr>
          <p:nvPr/>
        </p:nvSpPr>
        <p:spPr>
          <a:xfrm>
            <a:off x="4667250" y="4781550"/>
            <a:ext cx="1695450" cy="304800"/>
          </a:xfrm>
          <a:prstGeom prst="rect">
            <a:avLst/>
          </a:prstGeom>
          <a:solidFill>
            <a:srgbClr val="173027"/>
          </a:solidFill>
          <a:ln w="9525">
            <a:solidFill>
              <a:srgbClr val="315946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4781550" y="48387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B9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94A"/>
                </a:solidFill>
                <a:latin typeface="Aptos"/>
                <a:ea typeface="Aptos"/>
                <a:cs typeface="Aptos"/>
              </a:rPr>
              <a:t>recommend winner</a:t>
            </a:r>
            <a:endParaRPr sz="900" b="1">
              <a:solidFill>
                <a:srgbClr val="FFB9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8" name="Rectangle 407"/>
          <p:cNvSpPr>
            <a:spLocks noGrp="1"/>
          </p:cNvSpPr>
          <p:nvPr/>
        </p:nvSpPr>
        <p:spPr>
          <a:xfrm>
            <a:off x="6572250" y="2133600"/>
            <a:ext cx="1885950" cy="12573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141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6743700" y="2286000"/>
            <a:ext cx="304800" cy="30480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6743700" y="2333625"/>
            <a:ext cx="30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1</a:t>
            </a:r>
            <a:endParaRPr sz="1050" b="1">
              <a:solidFill>
                <a:srgbClr val="07110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1" name="Rectangle 410"/>
          <p:cNvSpPr>
            <a:spLocks noGrp="1"/>
          </p:cNvSpPr>
          <p:nvPr/>
        </p:nvSpPr>
        <p:spPr>
          <a:xfrm>
            <a:off x="7162800" y="2305050"/>
            <a:ext cx="1104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Upload</a:t>
            </a:r>
            <a:endParaRPr sz="12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2" name="Rectangle 411"/>
          <p:cNvSpPr>
            <a:spLocks noGrp="1"/>
          </p:cNvSpPr>
          <p:nvPr/>
        </p:nvSpPr>
        <p:spPr>
          <a:xfrm>
            <a:off x="6743700" y="272415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CSV/XLSX click data enters the backend.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13" name="Picture 4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5350" y="2609850"/>
            <a:ext cx="304800" cy="304800"/>
          </a:xfrm>
          <a:prstGeom prst="rect">
            <a:avLst/>
          </a:prstGeom>
        </p:spPr>
      </p:pic>
      <p:sp>
        <p:nvSpPr>
          <p:cNvPr id="414" name="Rectangle 413"/>
          <p:cNvSpPr>
            <a:spLocks noGrp="1"/>
          </p:cNvSpPr>
          <p:nvPr/>
        </p:nvSpPr>
        <p:spPr>
          <a:xfrm>
            <a:off x="8953500" y="2133600"/>
            <a:ext cx="1885950" cy="12573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141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9124950" y="2286000"/>
            <a:ext cx="304800" cy="304800"/>
          </a:xfrm>
          <a:prstGeom prst="rect">
            <a:avLst/>
          </a:prstGeom>
          <a:solidFill>
            <a:srgbClr val="31D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Rectangle 415"/>
          <p:cNvSpPr>
            <a:spLocks noGrp="1"/>
          </p:cNvSpPr>
          <p:nvPr/>
        </p:nvSpPr>
        <p:spPr>
          <a:xfrm>
            <a:off x="9124950" y="2333625"/>
            <a:ext cx="30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2</a:t>
            </a:r>
            <a:endParaRPr sz="1050" b="1">
              <a:solidFill>
                <a:srgbClr val="07110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7" name="Rectangle 416"/>
          <p:cNvSpPr>
            <a:spLocks noGrp="1"/>
          </p:cNvSpPr>
          <p:nvPr/>
        </p:nvSpPr>
        <p:spPr>
          <a:xfrm>
            <a:off x="9544050" y="2305050"/>
            <a:ext cx="1104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Score</a:t>
            </a:r>
            <a:endParaRPr sz="12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8" name="Rectangle 417"/>
          <p:cNvSpPr>
            <a:spLocks noGrp="1"/>
          </p:cNvSpPr>
          <p:nvPr/>
        </p:nvSpPr>
        <p:spPr>
          <a:xfrm>
            <a:off x="9124950" y="272415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UCB computes reward plus uncertainty.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9" name="Rectangle 418"/>
          <p:cNvSpPr>
            <a:spLocks noGrp="1"/>
          </p:cNvSpPr>
          <p:nvPr/>
        </p:nvSpPr>
        <p:spPr>
          <a:xfrm>
            <a:off x="6572250" y="4019550"/>
            <a:ext cx="1885950" cy="12573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141"/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6743700" y="4171950"/>
            <a:ext cx="304800" cy="304800"/>
          </a:xfrm>
          <a:prstGeom prst="rect">
            <a:avLst/>
          </a:prstGeom>
          <a:solidFill>
            <a:srgbClr val="FFB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1" name="Rectangle 420"/>
          <p:cNvSpPr>
            <a:spLocks noGrp="1"/>
          </p:cNvSpPr>
          <p:nvPr/>
        </p:nvSpPr>
        <p:spPr>
          <a:xfrm>
            <a:off x="6743700" y="4219575"/>
            <a:ext cx="30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3</a:t>
            </a:r>
            <a:endParaRPr sz="1050" b="1">
              <a:solidFill>
                <a:srgbClr val="07110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2" name="Rectangle 421"/>
          <p:cNvSpPr>
            <a:spLocks noGrp="1"/>
          </p:cNvSpPr>
          <p:nvPr/>
        </p:nvSpPr>
        <p:spPr>
          <a:xfrm>
            <a:off x="7162800" y="4191000"/>
            <a:ext cx="1104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Learn</a:t>
            </a:r>
            <a:endParaRPr sz="12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23" name="Rectangle 422"/>
          <p:cNvSpPr>
            <a:spLocks noGrp="1"/>
          </p:cNvSpPr>
          <p:nvPr/>
        </p:nvSpPr>
        <p:spPr>
          <a:xfrm>
            <a:off x="6743700" y="461010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Selections and rewards update each round.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24" name="Picture 4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5350" y="4495800"/>
            <a:ext cx="304800" cy="304800"/>
          </a:xfrm>
          <a:prstGeom prst="rect">
            <a:avLst/>
          </a:prstGeom>
        </p:spPr>
      </p:pic>
      <p:sp>
        <p:nvSpPr>
          <p:cNvPr id="425" name="Rectangle 424"/>
          <p:cNvSpPr>
            <a:spLocks noGrp="1"/>
          </p:cNvSpPr>
          <p:nvPr/>
        </p:nvSpPr>
        <p:spPr>
          <a:xfrm>
            <a:off x="8953500" y="4019550"/>
            <a:ext cx="1885950" cy="12573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141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9124950" y="4171950"/>
            <a:ext cx="304800" cy="30480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9124950" y="4219575"/>
            <a:ext cx="30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4</a:t>
            </a:r>
            <a:endParaRPr sz="1050" b="1">
              <a:solidFill>
                <a:srgbClr val="07110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8" name="Rectangle 427"/>
          <p:cNvSpPr>
            <a:spLocks noGrp="1"/>
          </p:cNvSpPr>
          <p:nvPr/>
        </p:nvSpPr>
        <p:spPr>
          <a:xfrm>
            <a:off x="9544050" y="4191000"/>
            <a:ext cx="1104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Explain</a:t>
            </a:r>
            <a:endParaRPr sz="12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29" name="Rectangle 428"/>
          <p:cNvSpPr>
            <a:spLocks noGrp="1"/>
          </p:cNvSpPr>
          <p:nvPr/>
        </p:nvSpPr>
        <p:spPr>
          <a:xfrm>
            <a:off x="9124950" y="4610100"/>
            <a:ext cx="152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Dashboard returns best ad, CTR, regret, and insight.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0" name="Rectangle 429"/>
          <p:cNvSpPr>
            <a:spLocks noGrp="1"/>
          </p:cNvSpPr>
          <p:nvPr/>
        </p:nvSpPr>
        <p:spPr>
          <a:xfrm>
            <a:off x="495300" y="64579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378"/>
                </a:solidFill>
                <a:latin typeface="Aptos"/>
                <a:ea typeface="Aptos"/>
                <a:cs typeface="Aptos"/>
              </a:rPr>
              <a:t>Source: backend/app/ml_models/ucb.py</a:t>
            </a:r>
            <a:endParaRPr sz="825" b="0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1" name="Rectangle 430"/>
          <p:cNvSpPr>
            <a:spLocks noGrp="1"/>
          </p:cNvSpPr>
          <p:nvPr/>
        </p:nvSpPr>
        <p:spPr>
          <a:xfrm>
            <a:off x="11144250" y="641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03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32" name="Picture 431" descr="jj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32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091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610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342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42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42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42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42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42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42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42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2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42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2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42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42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42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42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42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42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42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42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42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42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143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143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1143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1143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1143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143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43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43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143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143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143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143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143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543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543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543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543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1543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1543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1543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543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543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543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543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943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943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43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943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943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43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943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943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1943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1943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1943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943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943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2343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2343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2343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343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43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343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343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43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343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343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343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343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2343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2743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2743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2743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2743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2743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2743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743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743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743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43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743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743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743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143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143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43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143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3143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3143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3143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3143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3143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3143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3143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3143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3143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543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543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43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543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543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543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543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3543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3543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3543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3543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3543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3543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3943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3943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3943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943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943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943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943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43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943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943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3943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3943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3943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3434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3434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3434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3434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3434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43434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43434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43434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43434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43434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43434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3434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434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7434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7434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7434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7434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7434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7434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434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7434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47434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47434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47434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47434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47434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1435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1435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1435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51435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51435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51435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51435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51435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51435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51435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51435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1435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435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5435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5435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5435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435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5435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5435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55435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55435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55435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55435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55435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55435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55435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59436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9436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9436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9436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9436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9436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9436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9436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9436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59436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59436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59436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59436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63436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63436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63436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63436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63436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63436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63436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63436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63436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63436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63436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63436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63436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67437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67437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67437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67437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67437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67437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67437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67437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67437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67437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67437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67437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67437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71437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71437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1437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1437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1437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1437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1437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1437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1437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71437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71437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71437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71437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75438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75438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75438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75438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75438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5438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5438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5438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438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5438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5438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75438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79438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79438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79438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79438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79438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79438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79438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79438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79438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9438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9438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9438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9438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343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343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343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343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343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8343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8343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8343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8343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343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343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8343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8343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8743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8743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8743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743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743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743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743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743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8743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8743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8743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8743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8743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9144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9144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9144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9144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9144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9144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9144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9144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9144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9144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9144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44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144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544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544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9544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9544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9544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9544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9544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9544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9544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9544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9544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9544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9544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9944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944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944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944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944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9944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9944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9944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9944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9944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9944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9944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9944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10344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10344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10344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10344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10344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10344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10344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10344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344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344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344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10344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10344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10744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10744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10744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10744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10744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10744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10744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10744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10744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10744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10744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744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744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1144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11144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11144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11144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11144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11144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11144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11144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11144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11144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11144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11144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11144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11544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1544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1544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1544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11544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11544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11544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11544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11544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11544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11544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11544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11544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11944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11944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11944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11944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1944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1944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1944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11944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11944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11944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11944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11944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11944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kicker-workflow-marker"/>
          <p:cNvSpPr>
            <a:spLocks noGrp="1"/>
          </p:cNvSpPr>
          <p:nvPr/>
        </p:nvSpPr>
        <p:spPr>
          <a:xfrm>
            <a:off x="495300" y="419100"/>
            <a:ext cx="95250" cy="952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kicker-workflow-label"/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WORKFLOW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7" name="Rectangle 396"/>
          <p:cNvSpPr>
            <a:spLocks noGrp="1"/>
          </p:cNvSpPr>
          <p:nvPr/>
        </p:nvSpPr>
        <p:spPr>
          <a:xfrm>
            <a:off x="495300" y="876300"/>
            <a:ext cx="8572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The MVP is a deployable full-stack optimization loop, not only a notebook.</a:t>
            </a:r>
            <a:endParaRPr sz="285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98" name="Rectangle 397"/>
          <p:cNvSpPr>
            <a:spLocks noGrp="1"/>
          </p:cNvSpPr>
          <p:nvPr/>
        </p:nvSpPr>
        <p:spPr>
          <a:xfrm>
            <a:off x="552450" y="2247900"/>
            <a:ext cx="2095500" cy="14097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342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552450" y="2247900"/>
            <a:ext cx="2095500" cy="47625"/>
          </a:xfrm>
          <a:prstGeom prst="rect">
            <a:avLst/>
          </a:prstGeom>
          <a:solidFill>
            <a:srgbClr val="31D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704850" y="24193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Next.js dashboard</a:t>
            </a:r>
            <a:endParaRPr sz="15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1" name="Rectangle 400"/>
          <p:cNvSpPr>
            <a:spLocks noGrp="1"/>
          </p:cNvSpPr>
          <p:nvPr/>
        </p:nvSpPr>
        <p:spPr>
          <a:xfrm>
            <a:off x="704850" y="2762250"/>
            <a:ext cx="1790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React, TypeScript, Tailwind, Recharts, GSAP UI for owners and analysts.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02" name="Picture 4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1300" y="2781300"/>
            <a:ext cx="304800" cy="304800"/>
          </a:xfrm>
          <a:prstGeom prst="rect">
            <a:avLst/>
          </a:prstGeom>
        </p:spPr>
      </p:pic>
      <p:sp>
        <p:nvSpPr>
          <p:cNvPr id="403" name="Rectangle 402"/>
          <p:cNvSpPr>
            <a:spLocks noGrp="1"/>
          </p:cNvSpPr>
          <p:nvPr/>
        </p:nvSpPr>
        <p:spPr>
          <a:xfrm>
            <a:off x="3200400" y="2247900"/>
            <a:ext cx="2190750" cy="14097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342"/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3200400" y="2247900"/>
            <a:ext cx="2190750" cy="47625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3352800" y="2419350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FastAPI API</a:t>
            </a:r>
            <a:endParaRPr sz="15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6" name="Rectangle 405"/>
          <p:cNvSpPr>
            <a:spLocks noGrp="1"/>
          </p:cNvSpPr>
          <p:nvPr/>
        </p:nvSpPr>
        <p:spPr>
          <a:xfrm>
            <a:off x="3352800" y="2762250"/>
            <a:ext cx="18859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Auth, dataset upload, train-model, analytics, simulation, leaderboard, reports.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07" name="Picture 40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4500" y="2781300"/>
            <a:ext cx="304800" cy="304800"/>
          </a:xfrm>
          <a:prstGeom prst="rect">
            <a:avLst/>
          </a:prstGeom>
        </p:spPr>
      </p:pic>
      <p:sp>
        <p:nvSpPr>
          <p:cNvPr id="408" name="Rectangle 407"/>
          <p:cNvSpPr>
            <a:spLocks noGrp="1"/>
          </p:cNvSpPr>
          <p:nvPr/>
        </p:nvSpPr>
        <p:spPr>
          <a:xfrm>
            <a:off x="5943600" y="2247900"/>
            <a:ext cx="2095500" cy="14097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342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5943600" y="2247900"/>
            <a:ext cx="2095500" cy="47625"/>
          </a:xfrm>
          <a:prstGeom prst="rect">
            <a:avLst/>
          </a:prstGeom>
          <a:solidFill>
            <a:srgbClr val="FFB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6096000" y="24193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Dataset service</a:t>
            </a:r>
            <a:endParaRPr sz="15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1" name="Rectangle 410"/>
          <p:cNvSpPr>
            <a:spLocks noGrp="1"/>
          </p:cNvSpPr>
          <p:nvPr/>
        </p:nvSpPr>
        <p:spPr>
          <a:xfrm>
            <a:off x="6096000" y="2762250"/>
            <a:ext cx="1790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Validates CSV/XLSX binary click matrices and stores metadata/statistics.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12" name="Picture 4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2450" y="2781300"/>
            <a:ext cx="304800" cy="304800"/>
          </a:xfrm>
          <a:prstGeom prst="rect">
            <a:avLst/>
          </a:prstGeom>
        </p:spPr>
      </p:pic>
      <p:sp>
        <p:nvSpPr>
          <p:cNvPr id="413" name="Rectangle 412"/>
          <p:cNvSpPr>
            <a:spLocks noGrp="1"/>
          </p:cNvSpPr>
          <p:nvPr/>
        </p:nvSpPr>
        <p:spPr>
          <a:xfrm>
            <a:off x="8591550" y="2247900"/>
            <a:ext cx="2476500" cy="1409700"/>
          </a:xfrm>
          <a:prstGeom prst="rect">
            <a:avLst/>
          </a:prstGeom>
          <a:solidFill>
            <a:srgbClr val="10221B"/>
          </a:solidFill>
          <a:ln w="9525">
            <a:solidFill>
              <a:srgbClr val="2B5342"/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8591550" y="2247900"/>
            <a:ext cx="2476500" cy="47625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8743950" y="24193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Bandit engine</a:t>
            </a:r>
            <a:endParaRPr sz="15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6" name="Rectangle 415"/>
          <p:cNvSpPr>
            <a:spLocks noGrp="1"/>
          </p:cNvSpPr>
          <p:nvPr/>
        </p:nvSpPr>
        <p:spPr>
          <a:xfrm>
            <a:off x="8743950" y="2762250"/>
            <a:ext cx="2171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UCB plus Thompson, epsilon-greedy, softmax, and random baseline comparison.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7" name="Rectangle 416"/>
          <p:cNvSpPr>
            <a:spLocks noGrp="1"/>
          </p:cNvSpPr>
          <p:nvPr/>
        </p:nvSpPr>
        <p:spPr>
          <a:xfrm>
            <a:off x="1428750" y="4362450"/>
            <a:ext cx="2571750" cy="1238250"/>
          </a:xfrm>
          <a:prstGeom prst="rect">
            <a:avLst/>
          </a:prstGeom>
          <a:solidFill>
            <a:srgbClr val="10221B"/>
          </a:solidFill>
          <a:ln w="9525">
            <a:solidFill>
              <a:srgbClr val="2B5342"/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1428750" y="4362450"/>
            <a:ext cx="2571750" cy="47625"/>
          </a:xfrm>
          <a:prstGeom prst="rect">
            <a:avLst/>
          </a:prstGeom>
          <a:solidFill>
            <a:srgbClr val="FFB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1581150" y="45339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Persistence</a:t>
            </a:r>
            <a:endParaRPr sz="15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20" name="Rectangle 419"/>
          <p:cNvSpPr>
            <a:spLocks noGrp="1"/>
          </p:cNvSpPr>
          <p:nvPr/>
        </p:nvSpPr>
        <p:spPr>
          <a:xfrm>
            <a:off x="1581150" y="4876800"/>
            <a:ext cx="2266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SQLAlchemy schema for users, datasets, experiments, model results, analytics, reports, simulations, audit logs.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1" name="Rectangle 420"/>
          <p:cNvSpPr>
            <a:spLocks noGrp="1"/>
          </p:cNvSpPr>
          <p:nvPr/>
        </p:nvSpPr>
        <p:spPr>
          <a:xfrm>
            <a:off x="4800600" y="4362450"/>
            <a:ext cx="2381250" cy="1238250"/>
          </a:xfrm>
          <a:prstGeom prst="rect">
            <a:avLst/>
          </a:prstGeom>
          <a:solidFill>
            <a:srgbClr val="10221B"/>
          </a:solidFill>
          <a:ln w="9525">
            <a:solidFill>
              <a:srgbClr val="2B5342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4800600" y="4362450"/>
            <a:ext cx="2381250" cy="47625"/>
          </a:xfrm>
          <a:prstGeom prst="rect">
            <a:avLst/>
          </a:prstGeom>
          <a:solidFill>
            <a:srgbClr val="31D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Rectangle 422"/>
          <p:cNvSpPr>
            <a:spLocks noGrp="1"/>
          </p:cNvSpPr>
          <p:nvPr/>
        </p:nvSpPr>
        <p:spPr>
          <a:xfrm>
            <a:off x="4953000" y="453390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Async scale</a:t>
            </a:r>
            <a:endParaRPr sz="15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24" name="Rectangle 423"/>
          <p:cNvSpPr>
            <a:spLocks noGrp="1"/>
          </p:cNvSpPr>
          <p:nvPr/>
        </p:nvSpPr>
        <p:spPr>
          <a:xfrm>
            <a:off x="4953000" y="48768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Redis and Celery worker scaffold for background training workloads.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5" name="Rectangle 424"/>
          <p:cNvSpPr>
            <a:spLocks noGrp="1"/>
          </p:cNvSpPr>
          <p:nvPr/>
        </p:nvSpPr>
        <p:spPr>
          <a:xfrm>
            <a:off x="7981950" y="4362450"/>
            <a:ext cx="2762250" cy="1238250"/>
          </a:xfrm>
          <a:prstGeom prst="rect">
            <a:avLst/>
          </a:prstGeom>
          <a:solidFill>
            <a:srgbClr val="10221B"/>
          </a:solidFill>
          <a:ln w="9525">
            <a:solidFill>
              <a:srgbClr val="2B5342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7981950" y="4362450"/>
            <a:ext cx="2762250" cy="47625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8134350" y="4533900"/>
            <a:ext cx="2457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Deployment</a:t>
            </a:r>
            <a:endParaRPr sz="15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28" name="Rectangle 427"/>
          <p:cNvSpPr>
            <a:spLocks noGrp="1"/>
          </p:cNvSpPr>
          <p:nvPr/>
        </p:nvSpPr>
        <p:spPr>
          <a:xfrm>
            <a:off x="8134350" y="4876800"/>
            <a:ext cx="2457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Docker Compose for local full stack; Kubernetes manifests for API, worker, frontend, services, ingress.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9" name="Rectangle 428"/>
          <p:cNvSpPr>
            <a:spLocks noGrp="1"/>
          </p:cNvSpPr>
          <p:nvPr/>
        </p:nvSpPr>
        <p:spPr>
          <a:xfrm>
            <a:off x="2667000" y="3943350"/>
            <a:ext cx="5981700" cy="19050"/>
          </a:xfrm>
          <a:prstGeom prst="rect">
            <a:avLst/>
          </a:prstGeom>
          <a:solidFill>
            <a:srgbClr val="376B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Rectangle 429"/>
          <p:cNvSpPr>
            <a:spLocks noGrp="1"/>
          </p:cNvSpPr>
          <p:nvPr/>
        </p:nvSpPr>
        <p:spPr>
          <a:xfrm>
            <a:off x="2914650" y="3829050"/>
            <a:ext cx="571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Architecture path: user action -&gt; API validation -&gt; learning engine -&gt; stored result -&gt; dashboard/report recommendation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1" name="Rectangle 430"/>
          <p:cNvSpPr>
            <a:spLocks noGrp="1"/>
          </p:cNvSpPr>
          <p:nvPr/>
        </p:nvSpPr>
        <p:spPr>
          <a:xfrm>
            <a:off x="495300" y="64579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378"/>
                </a:solidFill>
                <a:latin typeface="Aptos"/>
                <a:ea typeface="Aptos"/>
                <a:cs typeface="Aptos"/>
              </a:rPr>
              <a:t>Sources: backend API routes, requirements.txt, frontend/package.json, Docker Compose, Kubernetes manifest</a:t>
            </a:r>
            <a:endParaRPr sz="825" b="0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2" name="Rectangle 431"/>
          <p:cNvSpPr>
            <a:spLocks noGrp="1"/>
          </p:cNvSpPr>
          <p:nvPr/>
        </p:nvSpPr>
        <p:spPr>
          <a:xfrm>
            <a:off x="11144250" y="641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04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091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610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342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42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42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42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42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42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42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42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2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42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2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42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42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42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42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42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42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42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42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42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42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143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143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1143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1143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1143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143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43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43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143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143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143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143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143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543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543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543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543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1543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1543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1543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543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543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543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543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943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943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43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943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943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43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943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943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1943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1943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1943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943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943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2343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2343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2343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343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43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343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343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43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343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343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343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343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2343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2743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2743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2743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2743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2743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2743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743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743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743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43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743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743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743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143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143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43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143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3143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3143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3143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3143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3143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3143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3143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3143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3143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543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543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43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543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543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543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543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3543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3543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3543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3543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3543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3543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3943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3943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3943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943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943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943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943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43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943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943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3943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3943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3943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3434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3434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3434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3434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3434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43434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43434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43434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43434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43434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43434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3434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434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7434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7434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7434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7434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7434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7434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434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7434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47434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47434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47434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47434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47434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1435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1435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1435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51435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51435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51435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51435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51435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51435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51435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51435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1435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435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5435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5435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5435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435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5435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5435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55435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55435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55435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55435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55435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55435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55435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59436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9436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9436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9436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9436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9436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9436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9436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9436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59436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59436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59436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59436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63436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63436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63436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63436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63436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63436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63436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63436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63436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63436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63436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63436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63436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67437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67437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67437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67437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67437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67437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67437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67437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67437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67437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67437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67437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67437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71437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71437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1437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1437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1437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1437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1437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1437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1437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71437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71437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71437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71437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75438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75438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75438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75438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75438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5438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5438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5438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438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5438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5438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75438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79438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79438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79438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79438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79438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79438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79438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79438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79438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9438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9438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9438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9438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343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343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343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343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343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8343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8343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8343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8343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343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343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8343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8343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8743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8743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8743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743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743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743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743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743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8743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8743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8743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8743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8743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9144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9144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9144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9144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9144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9144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9144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9144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9144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9144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9144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44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144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544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544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9544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9544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9544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9544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9544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9544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9544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9544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9544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9544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9544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9944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944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944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944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944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9944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9944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9944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9944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9944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9944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9944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9944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10344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10344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10344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10344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10344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10344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10344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10344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344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344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344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10344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10344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10744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10744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10744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10744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10744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10744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10744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10744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10744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10744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10744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744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744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1144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11144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11144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11144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11144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11144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11144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11144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11144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11144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11144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11144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11144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11544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1544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1544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1544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11544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11544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11544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11544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11544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11544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11544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11544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11544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11944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11944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11944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11944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1944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1944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1944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11944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11944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11944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11944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11944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11944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kicker-features-marker"/>
          <p:cNvSpPr>
            <a:spLocks noGrp="1"/>
          </p:cNvSpPr>
          <p:nvPr/>
        </p:nvSpPr>
        <p:spPr>
          <a:xfrm>
            <a:off x="495300" y="419100"/>
            <a:ext cx="95250" cy="952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kicker-features-label"/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FEATURES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7" name="Rectangle 396"/>
          <p:cNvSpPr>
            <a:spLocks noGrp="1"/>
          </p:cNvSpPr>
          <p:nvPr/>
        </p:nvSpPr>
        <p:spPr>
          <a:xfrm>
            <a:off x="495300" y="876300"/>
            <a:ext cx="8096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GrowKaro converts ML output into actions teams can use.</a:t>
            </a:r>
            <a:endParaRPr sz="30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98" name="Rectangle 397"/>
          <p:cNvSpPr>
            <a:spLocks noGrp="1"/>
          </p:cNvSpPr>
          <p:nvPr/>
        </p:nvSpPr>
        <p:spPr>
          <a:xfrm>
            <a:off x="552450" y="2057400"/>
            <a:ext cx="10668000" cy="3143250"/>
          </a:xfrm>
          <a:prstGeom prst="rect">
            <a:avLst/>
          </a:prstGeom>
          <a:solidFill>
            <a:srgbClr val="0C1915"/>
          </a:solidFill>
          <a:ln w="9525">
            <a:solidFill>
              <a:srgbClr val="284E3E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628650" y="22098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8378"/>
                </a:solidFill>
                <a:latin typeface="Aptos"/>
                <a:ea typeface="Aptos"/>
                <a:cs typeface="Aptos"/>
              </a:rPr>
              <a:t>User</a:t>
            </a:r>
            <a:endParaRPr sz="900" b="1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0" name="Rectangle 399"/>
          <p:cNvSpPr>
            <a:spLocks noGrp="1"/>
          </p:cNvSpPr>
          <p:nvPr/>
        </p:nvSpPr>
        <p:spPr>
          <a:xfrm>
            <a:off x="2571750" y="2209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8378"/>
                </a:solidFill>
                <a:latin typeface="Aptos"/>
                <a:ea typeface="Aptos"/>
                <a:cs typeface="Aptos"/>
              </a:rPr>
              <a:t>Product capabilities</a:t>
            </a:r>
            <a:endParaRPr sz="900" b="1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1" name="Rectangle 400"/>
          <p:cNvSpPr>
            <a:spLocks noGrp="1"/>
          </p:cNvSpPr>
          <p:nvPr/>
        </p:nvSpPr>
        <p:spPr>
          <a:xfrm>
            <a:off x="7372350" y="22098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8378"/>
                </a:solidFill>
                <a:latin typeface="Aptos"/>
                <a:ea typeface="Aptos"/>
                <a:cs typeface="Aptos"/>
              </a:rPr>
              <a:t>Hackathon value</a:t>
            </a:r>
            <a:endParaRPr sz="900" b="1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2" name="Rectangle 401"/>
          <p:cNvSpPr>
            <a:spLocks noGrp="1"/>
          </p:cNvSpPr>
          <p:nvPr/>
        </p:nvSpPr>
        <p:spPr>
          <a:xfrm>
            <a:off x="552450" y="2571750"/>
            <a:ext cx="10668000" cy="9525"/>
          </a:xfrm>
          <a:prstGeom prst="rect">
            <a:avLst/>
          </a:prstGeom>
          <a:solidFill>
            <a:srgbClr val="2442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628650" y="27432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rPr>
              <a:t>Owner</a:t>
            </a:r>
            <a:endParaRPr sz="1575" b="1">
              <a:solidFill>
                <a:srgbClr val="5EF08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4" name="Rectangle 403"/>
          <p:cNvSpPr>
            <a:spLocks noGrp="1"/>
          </p:cNvSpPr>
          <p:nvPr/>
        </p:nvSpPr>
        <p:spPr>
          <a:xfrm>
            <a:off x="2571750" y="2714625"/>
            <a:ext cx="438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Plain-language recommendation, GrowScore, best-ad suggestion, PDF result report.</a:t>
            </a:r>
            <a:endParaRPr sz="1125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5" name="Rectangle 404"/>
          <p:cNvSpPr>
            <a:spLocks noGrp="1"/>
          </p:cNvSpPr>
          <p:nvPr/>
        </p:nvSpPr>
        <p:spPr>
          <a:xfrm>
            <a:off x="7372350" y="2714625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Knows where to put budget without reading ML charts.</a:t>
            </a:r>
            <a:endParaRPr sz="11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6" name="Rectangle 405"/>
          <p:cNvSpPr>
            <a:spLocks noGrp="1"/>
          </p:cNvSpPr>
          <p:nvPr/>
        </p:nvSpPr>
        <p:spPr>
          <a:xfrm>
            <a:off x="552450" y="3333750"/>
            <a:ext cx="10668000" cy="9525"/>
          </a:xfrm>
          <a:prstGeom prst="rect">
            <a:avLst/>
          </a:prstGeom>
          <a:solidFill>
            <a:srgbClr val="2442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628650" y="35052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31D3F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31D3F2"/>
                </a:solidFill>
                <a:latin typeface="Aptos Display"/>
                <a:ea typeface="Aptos Display"/>
                <a:cs typeface="Aptos Display"/>
              </a:rPr>
              <a:t>Analyst</a:t>
            </a:r>
            <a:endParaRPr sz="1575" b="1">
              <a:solidFill>
                <a:srgbClr val="31D3F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8" name="Rectangle 407"/>
          <p:cNvSpPr>
            <a:spLocks noGrp="1"/>
          </p:cNvSpPr>
          <p:nvPr/>
        </p:nvSpPr>
        <p:spPr>
          <a:xfrm>
            <a:off x="2571750" y="3476625"/>
            <a:ext cx="438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Dataset upload, UCB training, confidence intervals, CTR/regret trends, model comparison.</a:t>
            </a:r>
            <a:endParaRPr sz="1125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9" name="Rectangle 408"/>
          <p:cNvSpPr>
            <a:spLocks noGrp="1"/>
          </p:cNvSpPr>
          <p:nvPr/>
        </p:nvSpPr>
        <p:spPr>
          <a:xfrm>
            <a:off x="7372350" y="3476625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Can defend why an ad won and keep challengers live.</a:t>
            </a:r>
            <a:endParaRPr sz="11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0" name="Rectangle 409"/>
          <p:cNvSpPr>
            <a:spLocks noGrp="1"/>
          </p:cNvSpPr>
          <p:nvPr/>
        </p:nvSpPr>
        <p:spPr>
          <a:xfrm>
            <a:off x="552450" y="4095750"/>
            <a:ext cx="10668000" cy="9525"/>
          </a:xfrm>
          <a:prstGeom prst="rect">
            <a:avLst/>
          </a:prstGeom>
          <a:solidFill>
            <a:srgbClr val="2442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628650" y="42672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B94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B94A"/>
                </a:solidFill>
                <a:latin typeface="Aptos Display"/>
                <a:ea typeface="Aptos Display"/>
                <a:cs typeface="Aptos Display"/>
              </a:rPr>
              <a:t>Operator</a:t>
            </a:r>
            <a:endParaRPr sz="1575" b="1">
              <a:solidFill>
                <a:srgbClr val="FFB94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2" name="Rectangle 411"/>
          <p:cNvSpPr>
            <a:spLocks noGrp="1"/>
          </p:cNvSpPr>
          <p:nvPr/>
        </p:nvSpPr>
        <p:spPr>
          <a:xfrm>
            <a:off x="2571750" y="4238625"/>
            <a:ext cx="438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Simulation endpoint, leaderboard, auth/admin routes, persisted experiments.</a:t>
            </a:r>
            <a:endParaRPr sz="1125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3" name="Rectangle 412"/>
          <p:cNvSpPr>
            <a:spLocks noGrp="1"/>
          </p:cNvSpPr>
          <p:nvPr/>
        </p:nvSpPr>
        <p:spPr>
          <a:xfrm>
            <a:off x="7372350" y="4238625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Can test workflows and keep campaign history organized.</a:t>
            </a:r>
            <a:endParaRPr sz="112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4" name="Rectangle 413"/>
          <p:cNvSpPr>
            <a:spLocks noGrp="1"/>
          </p:cNvSpPr>
          <p:nvPr/>
        </p:nvSpPr>
        <p:spPr>
          <a:xfrm>
            <a:off x="552450" y="5486400"/>
            <a:ext cx="5191125" cy="647700"/>
          </a:xfrm>
          <a:prstGeom prst="rect">
            <a:avLst/>
          </a:prstGeom>
          <a:solidFill>
            <a:srgbClr val="12271F"/>
          </a:solidFill>
          <a:ln w="9525">
            <a:solidFill>
              <a:srgbClr val="315F4B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762000" y="5657850"/>
            <a:ext cx="476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Built-in algorithms: UCB, Thompson Sampling, Epsilon Greedy, Softmax, Random Baseline</a:t>
            </a:r>
            <a:endParaRPr sz="1275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6" name="Rectangle 415"/>
          <p:cNvSpPr>
            <a:spLocks noGrp="1"/>
          </p:cNvSpPr>
          <p:nvPr/>
        </p:nvSpPr>
        <p:spPr>
          <a:xfrm>
            <a:off x="6038850" y="5486400"/>
            <a:ext cx="5181600" cy="647700"/>
          </a:xfrm>
          <a:prstGeom prst="rect">
            <a:avLst/>
          </a:prstGeom>
          <a:solidFill>
            <a:srgbClr val="12271F"/>
          </a:solidFill>
          <a:ln w="9525">
            <a:solidFill>
              <a:srgbClr val="315F4B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6248400" y="5657850"/>
            <a:ext cx="476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Endpoints: upload-dataset, train-model, results, analytics, simulate, leaderboard, compare-models</a:t>
            </a:r>
            <a:endParaRPr sz="1275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18" name="Picture 417"/>
          <p:cNvPicPr>
            <a:picLocks noChangeAspect="1"/>
          </p:cNvPicPr>
          <p:nvPr/>
        </p:nvPicPr>
        <p:blipFill>
          <a:blip r:embed="rId1"/>
          <a:srcRect t="17241" b="17241"/>
          <a:stretch>
            <a:fillRect/>
          </a:stretch>
        </p:blipFill>
        <p:spPr>
          <a:xfrm>
            <a:off x="9715500" y="762000"/>
            <a:ext cx="1123950" cy="1657350"/>
          </a:xfrm>
          <a:prstGeom prst="rect">
            <a:avLst/>
          </a:prstGeom>
        </p:spPr>
      </p:pic>
      <p:sp>
        <p:nvSpPr>
          <p:cNvPr id="419" name="Rectangle 418"/>
          <p:cNvSpPr>
            <a:spLocks noGrp="1"/>
          </p:cNvSpPr>
          <p:nvPr/>
        </p:nvSpPr>
        <p:spPr>
          <a:xfrm>
            <a:off x="495300" y="64579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378"/>
                </a:solidFill>
                <a:latin typeface="Aptos"/>
                <a:ea typeface="Aptos"/>
                <a:cs typeface="Aptos"/>
              </a:rPr>
              <a:t>Sources: API routes, frontend demo data, repo screenshots</a:t>
            </a:r>
            <a:endParaRPr sz="825" b="0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0" name="Rectangle 419"/>
          <p:cNvSpPr>
            <a:spLocks noGrp="1"/>
          </p:cNvSpPr>
          <p:nvPr/>
        </p:nvSpPr>
        <p:spPr>
          <a:xfrm>
            <a:off x="11144250" y="641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05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091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6100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342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42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42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42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42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42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42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42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2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42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2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42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42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42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42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42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42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42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42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42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42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42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143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143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1143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1143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1143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143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43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43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143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143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143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143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143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543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543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543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543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1543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1543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1543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543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543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543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543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943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943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43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943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943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43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943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943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1943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1943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1943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943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943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2343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2343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2343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343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43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343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343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43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343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343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343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343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2343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2743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2743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2743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2743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2743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2743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743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743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743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43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743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743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743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143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143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43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143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3143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3143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3143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3143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3143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3143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3143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3143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3143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543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543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43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543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543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543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543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3543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3543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3543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3543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3543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3543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3943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3943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3943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943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943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943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943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43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943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943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3943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3943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3943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3434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3434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3434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3434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3434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43434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43434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43434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43434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43434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43434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3434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434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7434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7434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7434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7434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7434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7434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434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7434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47434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47434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47434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47434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47434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1435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1435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1435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51435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51435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51435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51435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51435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51435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51435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51435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1435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435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5435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5435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5435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435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5435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5435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55435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55435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55435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55435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55435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55435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55435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59436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9436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9436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9436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9436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9436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9436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9436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9436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59436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59436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59436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59436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63436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63436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63436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63436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63436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63436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63436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63436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63436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63436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63436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63436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63436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67437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67437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67437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67437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67437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67437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67437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67437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67437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67437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67437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67437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67437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71437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71437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1437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1437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1437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1437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1437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1437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1437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71437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71437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71437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71437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75438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75438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75438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75438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75438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5438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5438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5438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438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5438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5438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75438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79438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79438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79438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79438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79438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79438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79438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79438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79438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9438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9438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9438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9438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3439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3439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3439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3439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3439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83439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83439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83439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83439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3439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3439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83439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83439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87439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87439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87439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7439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7439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7439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7439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7439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87439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87439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87439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87439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87439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91440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91440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91440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91440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91440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91440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91440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91440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91440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91440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91440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440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1440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5440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5440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95440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95440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95440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95440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95440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95440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95440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95440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95440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95440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95440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99441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9441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9441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9441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9441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99441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99441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99441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99441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99441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99441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99441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99441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103441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103441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103441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103441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103441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103441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103441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103441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3441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3441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3441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103441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103441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107442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107442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107442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107442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107442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107442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107442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107442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107442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107442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107442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7442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7442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11442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111442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111442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111442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111442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111442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111442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111442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111442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111442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111442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111442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111442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1154430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154430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154430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154430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1154430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1154430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1154430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1154430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1154430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1154430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1154430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1154430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1154430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11944350" y="10858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11944350" y="14859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11944350" y="18859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11944350" y="22860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1944350" y="26860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1944350" y="30861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1944350" y="34861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11944350" y="38862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11944350" y="42862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11944350" y="46863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11944350" y="50863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11944350" y="548640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11944350" y="5886450"/>
            <a:ext cx="19050" cy="19050"/>
          </a:xfrm>
          <a:prstGeom prst="rect">
            <a:avLst/>
          </a:prstGeom>
          <a:solidFill>
            <a:srgbClr val="1D33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5" name="kicker-vision-marker"/>
          <p:cNvSpPr>
            <a:spLocks noGrp="1"/>
          </p:cNvSpPr>
          <p:nvPr/>
        </p:nvSpPr>
        <p:spPr>
          <a:xfrm>
            <a:off x="495300" y="419100"/>
            <a:ext cx="95250" cy="952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kicker-vision-label"/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VISION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7" name="Rectangle 396"/>
          <p:cNvSpPr>
            <a:spLocks noGrp="1"/>
          </p:cNvSpPr>
          <p:nvPr/>
        </p:nvSpPr>
        <p:spPr>
          <a:xfrm>
            <a:off x="495300" y="876300"/>
            <a:ext cx="8572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From hackathon MVP to growth copilot: optimize, explain, and scale.</a:t>
            </a:r>
            <a:endParaRPr sz="3000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98" name="Rectangle 397"/>
          <p:cNvSpPr>
            <a:spLocks noGrp="1"/>
          </p:cNvSpPr>
          <p:nvPr/>
        </p:nvSpPr>
        <p:spPr>
          <a:xfrm>
            <a:off x="819150" y="2305050"/>
            <a:ext cx="171450" cy="1714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895350" y="2486025"/>
            <a:ext cx="19050" cy="895350"/>
          </a:xfrm>
          <a:prstGeom prst="rect">
            <a:avLst/>
          </a:prstGeom>
          <a:solidFill>
            <a:srgbClr val="345B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1162050" y="22479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now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1" name="Rectangle 400"/>
          <p:cNvSpPr>
            <a:spLocks noGrp="1"/>
          </p:cNvSpPr>
          <p:nvPr/>
        </p:nvSpPr>
        <p:spPr>
          <a:xfrm>
            <a:off x="1162050" y="25336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Working MVP</a:t>
            </a:r>
            <a:endParaRPr sz="15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2" name="Rectangle 401"/>
          <p:cNvSpPr>
            <a:spLocks noGrp="1"/>
          </p:cNvSpPr>
          <p:nvPr/>
        </p:nvSpPr>
        <p:spPr>
          <a:xfrm>
            <a:off x="1162050" y="2876550"/>
            <a:ext cx="1752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Upload click data, run UCB, compare models, show best ad, export report.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3" name="Rectangle 402"/>
          <p:cNvSpPr>
            <a:spLocks noGrp="1"/>
          </p:cNvSpPr>
          <p:nvPr/>
        </p:nvSpPr>
        <p:spPr>
          <a:xfrm>
            <a:off x="3638550" y="2305050"/>
            <a:ext cx="171450" cy="171450"/>
          </a:xfrm>
          <a:prstGeom prst="rect">
            <a:avLst/>
          </a:prstGeom>
          <a:solidFill>
            <a:srgbClr val="31D3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3714750" y="2486025"/>
            <a:ext cx="19050" cy="895350"/>
          </a:xfrm>
          <a:prstGeom prst="rect">
            <a:avLst/>
          </a:prstGeom>
          <a:solidFill>
            <a:srgbClr val="345B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3981450" y="22479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1D3F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D3F2"/>
                </a:solidFill>
                <a:latin typeface="Aptos"/>
                <a:ea typeface="Aptos"/>
                <a:cs typeface="Aptos"/>
              </a:rPr>
              <a:t>next</a:t>
            </a:r>
            <a:endParaRPr sz="975" b="1">
              <a:solidFill>
                <a:srgbClr val="31D3F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6" name="Rectangle 405"/>
          <p:cNvSpPr>
            <a:spLocks noGrp="1"/>
          </p:cNvSpPr>
          <p:nvPr/>
        </p:nvSpPr>
        <p:spPr>
          <a:xfrm>
            <a:off x="3981450" y="25336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Live pilots</a:t>
            </a:r>
            <a:endParaRPr sz="15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07" name="Rectangle 406"/>
          <p:cNvSpPr>
            <a:spLocks noGrp="1"/>
          </p:cNvSpPr>
          <p:nvPr/>
        </p:nvSpPr>
        <p:spPr>
          <a:xfrm>
            <a:off x="3981450" y="2876550"/>
            <a:ext cx="1752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Connect real campaigns and run guarded A/B allocation for local merchants.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8" name="Rectangle 407"/>
          <p:cNvSpPr>
            <a:spLocks noGrp="1"/>
          </p:cNvSpPr>
          <p:nvPr/>
        </p:nvSpPr>
        <p:spPr>
          <a:xfrm>
            <a:off x="6457950" y="2305050"/>
            <a:ext cx="171450" cy="171450"/>
          </a:xfrm>
          <a:prstGeom prst="rect">
            <a:avLst/>
          </a:prstGeom>
          <a:solidFill>
            <a:srgbClr val="FFB9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6534150" y="2486025"/>
            <a:ext cx="19050" cy="895350"/>
          </a:xfrm>
          <a:prstGeom prst="rect">
            <a:avLst/>
          </a:prstGeom>
          <a:solidFill>
            <a:srgbClr val="345B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6800850" y="22479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B9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94A"/>
                </a:solidFill>
                <a:latin typeface="Aptos"/>
                <a:ea typeface="Aptos"/>
                <a:cs typeface="Aptos"/>
              </a:rPr>
              <a:t>scale</a:t>
            </a:r>
            <a:endParaRPr sz="975" b="1">
              <a:solidFill>
                <a:srgbClr val="FFB9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1" name="Rectangle 410"/>
          <p:cNvSpPr>
            <a:spLocks noGrp="1"/>
          </p:cNvSpPr>
          <p:nvPr/>
        </p:nvSpPr>
        <p:spPr>
          <a:xfrm>
            <a:off x="6800850" y="25336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Budget copilot</a:t>
            </a:r>
            <a:endParaRPr sz="15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2" name="Rectangle 411"/>
          <p:cNvSpPr>
            <a:spLocks noGrp="1"/>
          </p:cNvSpPr>
          <p:nvPr/>
        </p:nvSpPr>
        <p:spPr>
          <a:xfrm>
            <a:off x="6800850" y="2876550"/>
            <a:ext cx="1752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Recommend budget shifts, creative tests, and channel mix with confidence.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3" name="Rectangle 412"/>
          <p:cNvSpPr>
            <a:spLocks noGrp="1"/>
          </p:cNvSpPr>
          <p:nvPr/>
        </p:nvSpPr>
        <p:spPr>
          <a:xfrm>
            <a:off x="9277350" y="2305050"/>
            <a:ext cx="171450" cy="17145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9353550" y="2486025"/>
            <a:ext cx="19050" cy="895350"/>
          </a:xfrm>
          <a:prstGeom prst="rect">
            <a:avLst/>
          </a:prstGeom>
          <a:solidFill>
            <a:srgbClr val="345B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9620250" y="22479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future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6" name="Rectangle 415"/>
          <p:cNvSpPr>
            <a:spLocks noGrp="1"/>
          </p:cNvSpPr>
          <p:nvPr/>
        </p:nvSpPr>
        <p:spPr>
          <a:xfrm>
            <a:off x="9620250" y="25336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FF7"/>
                </a:solidFill>
                <a:latin typeface="Aptos Display"/>
                <a:ea typeface="Aptos Display"/>
                <a:cs typeface="Aptos Display"/>
              </a:rPr>
              <a:t>Learning network</a:t>
            </a:r>
            <a:endParaRPr sz="1575" b="1">
              <a:solidFill>
                <a:srgbClr val="F4FFF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17" name="Rectangle 416"/>
          <p:cNvSpPr>
            <a:spLocks noGrp="1"/>
          </p:cNvSpPr>
          <p:nvPr/>
        </p:nvSpPr>
        <p:spPr>
          <a:xfrm>
            <a:off x="9620250" y="2876550"/>
            <a:ext cx="1752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D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DB3"/>
                </a:solidFill>
                <a:latin typeface="Aptos"/>
                <a:ea typeface="Aptos"/>
                <a:cs typeface="Aptos"/>
              </a:rPr>
              <a:t>Insights by segment, season, category, and regional language.</a:t>
            </a:r>
            <a:endParaRPr sz="975" b="0">
              <a:solidFill>
                <a:srgbClr val="AABDB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8" name="Rectangle 417"/>
          <p:cNvSpPr>
            <a:spLocks noGrp="1"/>
          </p:cNvSpPr>
          <p:nvPr/>
        </p:nvSpPr>
        <p:spPr>
          <a:xfrm>
            <a:off x="704850" y="4762500"/>
            <a:ext cx="5219700" cy="990600"/>
          </a:xfrm>
          <a:prstGeom prst="rect">
            <a:avLst/>
          </a:prstGeom>
          <a:solidFill>
            <a:srgbClr val="10211B"/>
          </a:solidFill>
          <a:ln w="9525">
            <a:solidFill>
              <a:srgbClr val="2D5544"/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704850" y="4762500"/>
            <a:ext cx="47625" cy="990600"/>
          </a:xfrm>
          <a:prstGeom prst="rect">
            <a:avLst/>
          </a:prstGeom>
          <a:solidFill>
            <a:srgbClr val="5EF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876300" y="4914900"/>
            <a:ext cx="48958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Hackathon ask: validate with 3-5 local businesses, plug in live campaign exports, and measure click lift plus owner trust in the recommendation.</a:t>
            </a:r>
            <a:endParaRPr sz="1350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1" name="Rectangle 420"/>
          <p:cNvSpPr>
            <a:spLocks noGrp="1"/>
          </p:cNvSpPr>
          <p:nvPr/>
        </p:nvSpPr>
        <p:spPr>
          <a:xfrm>
            <a:off x="6477000" y="4762500"/>
            <a:ext cx="4762500" cy="1181100"/>
          </a:xfrm>
          <a:prstGeom prst="rect">
            <a:avLst/>
          </a:prstGeom>
          <a:solidFill>
            <a:srgbClr val="10221B"/>
          </a:solidFill>
          <a:ln w="9525">
            <a:solidFill>
              <a:srgbClr val="315F4B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6705600" y="49339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5EF08A"/>
                </a:solidFill>
                <a:latin typeface="Aptos Display"/>
                <a:ea typeface="Aptos Display"/>
                <a:cs typeface="Aptos Display"/>
              </a:rPr>
              <a:t>Why it can win</a:t>
            </a:r>
            <a:endParaRPr sz="1575" b="1">
              <a:solidFill>
                <a:srgbClr val="5EF08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23" name="Rectangle 422"/>
          <p:cNvSpPr>
            <a:spLocks noGrp="1"/>
          </p:cNvSpPr>
          <p:nvPr/>
        </p:nvSpPr>
        <p:spPr>
          <a:xfrm>
            <a:off x="6705600" y="5257800"/>
            <a:ext cx="4095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4FF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FF7"/>
                </a:solidFill>
                <a:latin typeface="Aptos"/>
                <a:ea typeface="Aptos"/>
                <a:cs typeface="Aptos"/>
              </a:rPr>
              <a:t>It combines real ML logic, a working product interface, deployment thinking, and a user-friendly explanation layer for a market that usually gets dashboards instead of decisions.</a:t>
            </a:r>
            <a:endParaRPr sz="1050" b="0">
              <a:solidFill>
                <a:srgbClr val="F4FF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4" name="Rectangle 423"/>
          <p:cNvSpPr>
            <a:spLocks noGrp="1"/>
          </p:cNvSpPr>
          <p:nvPr/>
        </p:nvSpPr>
        <p:spPr>
          <a:xfrm>
            <a:off x="495300" y="64579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E83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8378"/>
                </a:solidFill>
                <a:latin typeface="Aptos"/>
                <a:ea typeface="Aptos"/>
                <a:cs typeface="Aptos"/>
              </a:rPr>
              <a:t>Sources: project architecture, production notes, computed benchmark gaps</a:t>
            </a:r>
            <a:endParaRPr sz="825" b="0">
              <a:solidFill>
                <a:srgbClr val="6E83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5" name="Rectangle 424"/>
          <p:cNvSpPr>
            <a:spLocks noGrp="1"/>
          </p:cNvSpPr>
          <p:nvPr/>
        </p:nvSpPr>
        <p:spPr>
          <a:xfrm>
            <a:off x="11144250" y="641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EF0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F08A"/>
                </a:solidFill>
                <a:latin typeface="Aptos"/>
                <a:ea typeface="Aptos"/>
                <a:cs typeface="Aptos"/>
              </a:rPr>
              <a:t>07</a:t>
            </a:r>
            <a:endParaRPr sz="975" b="1">
              <a:solidFill>
                <a:srgbClr val="5EF08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4557</Words>
  <Application>WPS Presentation</Application>
  <PresentationFormat>Converted Presentation</PresentationFormat>
  <Paragraphs>230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Aptos</vt:lpstr>
      <vt:lpstr>Segoe UI</vt:lpstr>
      <vt:lpstr>Aptos Display</vt:lpstr>
      <vt:lpstr>Aptos Mono</vt:lpstr>
      <vt:lpstr>Segoe UI Variable Display</vt:lpstr>
      <vt:lpstr>Microsoft YaHei</vt:lpstr>
      <vt:lpstr>Arial Unicode MS</vt:lpstr>
      <vt:lpstr>Calibri</vt:lpstr>
      <vt:lpstr>Cascadia Mono SemiLight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2026-06-18T06:03:47Z</dcterms:created>
  <dcterms:modified xsi:type="dcterms:W3CDTF">2026-06-18T06:03:48Z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37B9EC1B97EF4297918BCD0382B2348C_12</vt:lpwstr>
  </property>
</Properties>
</file>