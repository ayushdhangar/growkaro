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17cfe738e94cc9" /><Relationship Type="http://schemas.openxmlformats.org/officeDocument/2006/relationships/extended-properties" Target="/docProps/app.xml" Id="Rb0b0580e1dfd4a5f" /><Relationship Type="http://schemas.openxmlformats.org/officeDocument/2006/relationships/officeDocument" Target="/ppt/presentation.xml" Id="R32b35a724ca042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d03672dd114bcd"/>
  </p:sldMasterIdLst>
  <p:notesMasterIdLst>
    <p:notesMasterId xmlns:r="http://schemas.openxmlformats.org/officeDocument/2006/relationships" r:id="R4255179723974472"/>
  </p:notesMasterIdLst>
  <p:sldIdLst>
    <p:sldId xmlns:r="http://schemas.openxmlformats.org/officeDocument/2006/relationships" id="256" r:id="R914c781065604e6e"/>
    <p:sldId xmlns:r="http://schemas.openxmlformats.org/officeDocument/2006/relationships" id="257" r:id="R02fa39b56848465a"/>
    <p:sldId xmlns:r="http://schemas.openxmlformats.org/officeDocument/2006/relationships" id="258" r:id="R4d1f0cb7ef2f468c"/>
    <p:sldId xmlns:r="http://schemas.openxmlformats.org/officeDocument/2006/relationships" id="259" r:id="R70208352ede3492d"/>
    <p:sldId xmlns:r="http://schemas.openxmlformats.org/officeDocument/2006/relationships" id="260" r:id="R25fddee4992b4f74"/>
    <p:sldId xmlns:r="http://schemas.openxmlformats.org/officeDocument/2006/relationships" id="261" r:id="R03301a573f9744e3"/>
    <p:sldId xmlns:r="http://schemas.openxmlformats.org/officeDocument/2006/relationships" id="262" r:id="Rea01c67a16d0422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53e4ec42144b6b" /><Relationship Type="http://schemas.openxmlformats.org/officeDocument/2006/relationships/slideMaster" Target="/ppt/slideMasters/slideMaster1.xml" Id="Rd9d03672dd114bcd" /><Relationship Type="http://schemas.openxmlformats.org/officeDocument/2006/relationships/notesMaster" Target="/ppt/notesMasters/notesMaster1.xml" Id="R4255179723974472" /><Relationship Type="http://schemas.openxmlformats.org/officeDocument/2006/relationships/presProps" Target="/ppt/presProps.xml" Id="R1541b42719264933" /><Relationship Type="http://schemas.openxmlformats.org/officeDocument/2006/relationships/viewProps" Target="/ppt/viewProps.xml" Id="Re74e03cf59af4005" /><Relationship Type="http://schemas.openxmlformats.org/officeDocument/2006/relationships/tableStyles" Target="/ppt/tableStyles.xml" Id="Rb52ceb56dc7d4ef6" /><Relationship Type="http://schemas.openxmlformats.org/officeDocument/2006/relationships/slide" Target="/ppt/slides/slide1.xml" Id="R914c781065604e6e" /><Relationship Type="http://schemas.openxmlformats.org/officeDocument/2006/relationships/slide" Target="/ppt/slides/slide2.xml" Id="R02fa39b56848465a" /><Relationship Type="http://schemas.openxmlformats.org/officeDocument/2006/relationships/slide" Target="/ppt/slides/slide3.xml" Id="R4d1f0cb7ef2f468c" /><Relationship Type="http://schemas.openxmlformats.org/officeDocument/2006/relationships/slide" Target="/ppt/slides/slide4.xml" Id="R70208352ede3492d" /><Relationship Type="http://schemas.openxmlformats.org/officeDocument/2006/relationships/slide" Target="/ppt/slides/slide5.xml" Id="R25fddee4992b4f74" /><Relationship Type="http://schemas.openxmlformats.org/officeDocument/2006/relationships/slide" Target="/ppt/slides/slide6.xml" Id="R03301a573f9744e3" /><Relationship Type="http://schemas.openxmlformats.org/officeDocument/2006/relationships/slide" Target="/ppt/slides/slide7.xml" Id="Rea01c67a16d042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16df46d5d14b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eaf05494c34d90" /><Relationship Type="http://schemas.openxmlformats.org/officeDocument/2006/relationships/notesMaster" Target="/ppt/notesMasters/notesMaster1.xml" Id="R4ca825c5525944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dab774a141469b" /><Relationship Type="http://schemas.openxmlformats.org/officeDocument/2006/relationships/notesMaster" Target="/ppt/notesMasters/notesMaster1.xml" Id="R1dc393e7f1bb43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62f11427ac4eee" /><Relationship Type="http://schemas.openxmlformats.org/officeDocument/2006/relationships/notesMaster" Target="/ppt/notesMasters/notesMaster1.xml" Id="Rc5918fbd428a44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bc723f5725406b" /><Relationship Type="http://schemas.openxmlformats.org/officeDocument/2006/relationships/notesMaster" Target="/ppt/notesMasters/notesMaster1.xml" Id="Rf2d9e2a49a4a4c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05842c45e2456c" /><Relationship Type="http://schemas.openxmlformats.org/officeDocument/2006/relationships/notesMaster" Target="/ppt/notesMasters/notesMaster1.xml" Id="R7758ae2af9c645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c9f8720ca645f1" /><Relationship Type="http://schemas.openxmlformats.org/officeDocument/2006/relationships/notesMaster" Target="/ppt/notesMasters/notesMaster1.xml" Id="R2597d5597a3a4d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13dc06f8074213" /><Relationship Type="http://schemas.openxmlformats.org/officeDocument/2006/relationships/notesMaster" Target="/ppt/notesMasters/notesMaster1.xml" Id="Rdc3c6c1ba65a4f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7b801cf11044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c98ef914f74ea1" /><Relationship Type="http://schemas.openxmlformats.org/officeDocument/2006/relationships/slideLayout" Target="/ppt/slideLayouts/slideLayout1.xml" Id="R2b6b033aab1b43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6b033aab1b43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ba712bfa54442" /><Relationship Type="http://schemas.openxmlformats.org/officeDocument/2006/relationships/image" Target="/ppt/media/image.png" Id="R0bb3c6f6be534d07" /><Relationship Type="http://schemas.openxmlformats.org/officeDocument/2006/relationships/image" Target="/ppt/media/image.svg" Id="Rdcf2f8509f09409e" /><Relationship Type="http://schemas.openxmlformats.org/officeDocument/2006/relationships/image" Target="/ppt/media/image.jpeg" Id="R91cab70cd754499d" /><Relationship Type="http://schemas.openxmlformats.org/officeDocument/2006/relationships/notesSlide" Target="/ppt/notesSlides/notesSlide1.xml" Id="Rb44bbfe8cca044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d9452c6aa4581" /><Relationship Type="http://schemas.openxmlformats.org/officeDocument/2006/relationships/notesSlide" Target="/ppt/notesSlides/notesSlide2.xml" Id="Re9a892ce2a434e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ac6a3a4674ee5" /><Relationship Type="http://schemas.openxmlformats.org/officeDocument/2006/relationships/notesSlide" Target="/ppt/notesSlides/notesSlide3.xml" Id="R1c32d8ff46f745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ad9c29cdf4875" /><Relationship Type="http://schemas.openxmlformats.org/officeDocument/2006/relationships/notesSlide" Target="/ppt/notesSlides/notesSlide4.xml" Id="Re5a4c009c97d41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5bbbd8e104d4b" /><Relationship Type="http://schemas.openxmlformats.org/officeDocument/2006/relationships/notesSlide" Target="/ppt/notesSlides/notesSlide5.xml" Id="Re1805b3b709243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8efc9ded445e7" /><Relationship Type="http://schemas.openxmlformats.org/officeDocument/2006/relationships/image" Target="/ppt/media/image2.jpeg" Id="R4417c6cdcc354a83" /><Relationship Type="http://schemas.openxmlformats.org/officeDocument/2006/relationships/notesSlide" Target="/ppt/notesSlides/notesSlide6.xml" Id="R91304bf4058046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aaeb58ea64668" /><Relationship Type="http://schemas.openxmlformats.org/officeDocument/2006/relationships/image" Target="/ppt/media/image2.png" Id="Rab2806b729b54cda" /><Relationship Type="http://schemas.openxmlformats.org/officeDocument/2006/relationships/image" Target="/ppt/media/image2.svg" Id="Rd00947369e3a45a2" /><Relationship Type="http://schemas.openxmlformats.org/officeDocument/2006/relationships/notesSlide" Target="/ppt/notesSlides/notesSlide7.xml" Id="Rcb3162a6413744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cyan-edge">
            <a:extLst xmlns:a="http://schemas.openxmlformats.org/drawingml/2006/main">
              <a:ext uri="{FF2B5EF4-FFF2-40B4-BE49-F238E27FC236}">
                <a16:creationId xmlns:a16="http://schemas.microsoft.com/office/drawing/2014/main" id="{36A0CE16-DBED-4BBC-80E9-555B6F8E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8FF"/>
          </a:solidFill>
        </p:spPr>
      </p:sp>
      <p:sp>
        <p:nvSpPr>
          <p:cNvPr id="2" name="cover-violet-block">
            <a:extLst xmlns:a="http://schemas.openxmlformats.org/drawingml/2006/main">
              <a:ext uri="{FF2B5EF4-FFF2-40B4-BE49-F238E27FC236}">
                <a16:creationId xmlns:a16="http://schemas.microsoft.com/office/drawing/2014/main" id="{87AFF1E5-4648-4E8B-99A1-347C9562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0"/>
            <a:ext cx="1352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CFF"/>
          </a:solidFill>
        </p:spPr>
      </p:sp>
      <p:pic>
        <p:nvPicPr>
          <p:cNvPr id="3" name="growkaro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3c6f6be534d07">
            <a:extLst>
              <a:ext uri="{96DAC541-7B7A-43D3-8B79-37D633B846F1}">
                <asvg:svgBlip xmlns:asvg="http://schemas.microsoft.com/office/drawing/2016/SVG/main" r:embed="Rdcf2f8509f0940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304800"/>
            <a:ext cx="2247900" cy="723900"/>
          </a:xfrm>
          <a:prstGeom xmlns:a="http://schemas.openxmlformats.org/drawingml/2006/main" prst="rect">
            <a:avLst/>
          </a:prstGeom>
        </p:spPr>
      </p:pic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E0F2259-C375-4553-9E52-B63B04BE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9D"/>
          </a:solidFill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416BC46-3A3A-47BA-A851-0A8A9419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14450"/>
            <a:ext cx="3048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2E89D"/>
                </a:solidFill>
                <a:latin typeface="Aptos"/>
                <a:ea typeface="Aptos"/>
                <a:cs typeface="Aptos"/>
              </a:defRPr>
            </a:pPr>
            <a:r>
              <a:t>PRODUCT OVERVIEW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9C5A934-00CB-4AAF-B76E-5F0BFB00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000625" cy="217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75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Ad performance becomes a decision, not a spreadsheet.</a:t>
            </a:r>
          </a:p>
        </p:txBody>
      </p:sp>
      <p:sp>
        <p:nvSpPr>
          <p:cNvPr id="7" name="cover-support">
            <a:extLst xmlns:a="http://schemas.openxmlformats.org/drawingml/2006/main">
              <a:ext uri="{FF2B5EF4-FFF2-40B4-BE49-F238E27FC236}">
                <a16:creationId xmlns:a16="http://schemas.microsoft.com/office/drawing/2014/main" id="{F5C29116-FDB7-4289-B05B-44200BC9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4762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4C2"/>
                </a:solidFill>
                <a:latin typeface="Aptos"/>
                <a:ea typeface="Aptos"/>
                <a:cs typeface="Aptos"/>
              </a:defRPr>
            </a:pPr>
            <a:r>
              <a:t>GrowKaro ranks every ad, explains what the numbers mean, and turns a total budget into an actionable allocation.</a:t>
            </a:r>
          </a:p>
        </p:txBody>
      </p:sp>
      <p:sp>
        <p:nvSpPr>
          <p:cNvPr id="8" name="screen-offset">
            <a:extLst xmlns:a="http://schemas.openxmlformats.org/drawingml/2006/main">
              <a:ext uri="{FF2B5EF4-FFF2-40B4-BE49-F238E27FC236}">
                <a16:creationId xmlns:a16="http://schemas.microsoft.com/office/drawing/2014/main" id="{42E53CE1-8E99-42E8-B73A-C1A65750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066800"/>
            <a:ext cx="52387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9D"/>
          </a:solidFill>
        </p:spPr>
      </p:sp>
      <p:sp>
        <p:nvSpPr>
          <p:cNvPr id="9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38598869-51B6-43E4-BFF1-22D3C492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781050"/>
            <a:ext cx="5238750" cy="4038600"/>
          </a:xfrm>
          <a:prstGeom xmlns:a="http://schemas.openxmlformats.org/drawingml/2006/main" prst="roundRect">
            <a:avLst>
              <a:gd name="adj" fmla="val 1415"/>
            </a:avLst>
          </a:prstGeom>
          <a:solidFill xmlns:a="http://schemas.openxmlformats.org/drawingml/2006/main">
            <a:srgbClr val="0E1B29"/>
          </a:solidFill>
          <a:ln xmlns:a="http://schemas.openxmlformats.org/drawingml/2006/main" w="19050">
            <a:solidFill>
              <a:srgbClr val="304253"/>
            </a:solidFill>
            <a:prstDash val="solid"/>
          </a:ln>
        </p:spPr>
      </p:sp>
      <p:pic>
        <p:nvPicPr>
          <p:cNvPr id="10" name="product-scree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ab70cd754499d"/>
          <a:stretch xmlns:a="http://schemas.openxmlformats.org/drawingml/2006/main"/>
        </p:blipFill>
        <p:spPr>
          <a:xfrm xmlns:a="http://schemas.openxmlformats.org/drawingml/2006/main">
            <a:off x="6219825" y="1367983"/>
            <a:ext cx="5029200" cy="2864734"/>
          </a:xfrm>
          <a:prstGeom xmlns:a="http://schemas.openxmlformats.org/drawingml/2006/main" prst="roundRect">
            <a:avLst>
              <a:gd name="adj" fmla="val 995"/>
            </a:avLst>
          </a:prstGeom>
        </p:spPr>
      </p:pic>
      <p:sp>
        <p:nvSpPr>
          <p:cNvPr id="11" name="screen-caption-band">
            <a:extLst xmlns:a="http://schemas.openxmlformats.org/drawingml/2006/main">
              <a:ext uri="{FF2B5EF4-FFF2-40B4-BE49-F238E27FC236}">
                <a16:creationId xmlns:a16="http://schemas.microsoft.com/office/drawing/2014/main" id="{8A6DC5EC-292B-4387-A870-2BFCF12C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19650"/>
            <a:ext cx="523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9"/>
          </a:solidFill>
        </p:spPr>
      </p:sp>
      <p:sp>
        <p:nvSpPr>
          <p:cNvPr id="12" name="screen-caption">
            <a:extLst xmlns:a="http://schemas.openxmlformats.org/drawingml/2006/main">
              <a:ext uri="{FF2B5EF4-FFF2-40B4-BE49-F238E27FC236}">
                <a16:creationId xmlns:a16="http://schemas.microsoft.com/office/drawing/2014/main" id="{04AA48FA-2AFB-4B3B-BF0D-6880B1D9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67275"/>
            <a:ext cx="3333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AB4C2"/>
                </a:solidFill>
                <a:latin typeface="Aptos"/>
                <a:ea typeface="Aptos"/>
                <a:cs typeface="Aptos"/>
              </a:defRPr>
            </a:pPr>
            <a:r>
              <a:t>Verified GrowKaro product UI</a:t>
            </a:r>
          </a:p>
        </p:txBody>
      </p:sp>
      <p:sp>
        <p:nvSpPr>
          <p:cNvPr id="13" name="metric-ads ranked-rule">
            <a:extLst xmlns:a="http://schemas.openxmlformats.org/drawingml/2006/main">
              <a:ext uri="{FF2B5EF4-FFF2-40B4-BE49-F238E27FC236}">
                <a16:creationId xmlns:a16="http://schemas.microsoft.com/office/drawing/2014/main" id="{FF4A4888-89F8-435C-A6B5-CCE0B18A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352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9D"/>
          </a:solidFill>
        </p:spPr>
      </p:sp>
      <p:sp>
        <p:nvSpPr>
          <p:cNvPr id="14" name="metric-ads ranked-value">
            <a:extLst xmlns:a="http://schemas.openxmlformats.org/drawingml/2006/main">
              <a:ext uri="{FF2B5EF4-FFF2-40B4-BE49-F238E27FC236}">
                <a16:creationId xmlns:a16="http://schemas.microsoft.com/office/drawing/2014/main" id="{75343397-C8A2-4516-83ED-A23093B1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3525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10</a:t>
            </a:r>
          </a:p>
        </p:txBody>
      </p:sp>
      <p:sp>
        <p:nvSpPr>
          <p:cNvPr id="15" name="metric-ads ranked-label">
            <a:extLst xmlns:a="http://schemas.openxmlformats.org/drawingml/2006/main">
              <a:ext uri="{FF2B5EF4-FFF2-40B4-BE49-F238E27FC236}">
                <a16:creationId xmlns:a16="http://schemas.microsoft.com/office/drawing/2014/main" id="{062D0A9E-32CC-4AD0-A1AC-00C27D0C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352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AB4C2"/>
                </a:solidFill>
                <a:latin typeface="Aptos"/>
                <a:ea typeface="Aptos"/>
                <a:cs typeface="Aptos"/>
              </a:defRPr>
            </a:pPr>
            <a:r>
              <a:t>ads ranked</a:t>
            </a:r>
          </a:p>
        </p:txBody>
      </p:sp>
      <p:sp>
        <p:nvSpPr>
          <p:cNvPr id="16" name="metric-user-specific-rule">
            <a:extLst xmlns:a="http://schemas.openxmlformats.org/drawingml/2006/main">
              <a:ext uri="{FF2B5EF4-FFF2-40B4-BE49-F238E27FC236}">
                <a16:creationId xmlns:a16="http://schemas.microsoft.com/office/drawing/2014/main" id="{B316FCF4-890E-4775-A32D-2DC09300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4102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CFF"/>
          </a:solidFill>
        </p:spPr>
      </p:sp>
      <p:sp>
        <p:nvSpPr>
          <p:cNvPr id="17" name="metric-user-specific-value">
            <a:extLst xmlns:a="http://schemas.openxmlformats.org/drawingml/2006/main">
              <a:ext uri="{FF2B5EF4-FFF2-40B4-BE49-F238E27FC236}">
                <a16:creationId xmlns:a16="http://schemas.microsoft.com/office/drawing/2014/main" id="{1282B7D0-AFEB-45BA-8BDC-212F3212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543550"/>
            <a:ext cx="1524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100%</a:t>
            </a:r>
          </a:p>
        </p:txBody>
      </p:sp>
      <p:sp>
        <p:nvSpPr>
          <p:cNvPr id="18" name="metric-user-specific-label">
            <a:extLst xmlns:a="http://schemas.openxmlformats.org/drawingml/2006/main">
              <a:ext uri="{FF2B5EF4-FFF2-40B4-BE49-F238E27FC236}">
                <a16:creationId xmlns:a16="http://schemas.microsoft.com/office/drawing/2014/main" id="{E21E7B02-2EDC-41BB-A696-87440600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601980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AB4C2"/>
                </a:solidFill>
                <a:latin typeface="Aptos"/>
                <a:ea typeface="Aptos"/>
                <a:cs typeface="Aptos"/>
              </a:defRPr>
            </a:pPr>
            <a:r>
              <a:t>user-specific</a:t>
            </a:r>
          </a:p>
        </p:txBody>
      </p:sp>
      <p:sp>
        <p:nvSpPr>
          <p:cNvPr id="19" name="metric-PDF result-rule">
            <a:extLst xmlns:a="http://schemas.openxmlformats.org/drawingml/2006/main">
              <a:ext uri="{FF2B5EF4-FFF2-40B4-BE49-F238E27FC236}">
                <a16:creationId xmlns:a16="http://schemas.microsoft.com/office/drawing/2014/main" id="{EF28A12C-D3F2-403A-A67D-4E90963A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410200"/>
            <a:ext cx="1352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8FF"/>
          </a:solidFill>
        </p:spPr>
      </p:sp>
      <p:sp>
        <p:nvSpPr>
          <p:cNvPr id="20" name="metric-PDF result-value">
            <a:extLst xmlns:a="http://schemas.openxmlformats.org/drawingml/2006/main">
              <a:ext uri="{FF2B5EF4-FFF2-40B4-BE49-F238E27FC236}">
                <a16:creationId xmlns:a16="http://schemas.microsoft.com/office/drawing/2014/main" id="{CCC5DB83-2387-4558-B048-1958E3CC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543550"/>
            <a:ext cx="13525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1 click</a:t>
            </a:r>
          </a:p>
        </p:txBody>
      </p:sp>
      <p:sp>
        <p:nvSpPr>
          <p:cNvPr id="21" name="metric-PDF result-label">
            <a:extLst xmlns:a="http://schemas.openxmlformats.org/drawingml/2006/main">
              <a:ext uri="{FF2B5EF4-FFF2-40B4-BE49-F238E27FC236}">
                <a16:creationId xmlns:a16="http://schemas.microsoft.com/office/drawing/2014/main" id="{D55CAC6B-6CC4-418C-9220-0AB8C35F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019800"/>
            <a:ext cx="1352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AB4C2"/>
                </a:solidFill>
                <a:latin typeface="Aptos"/>
                <a:ea typeface="Aptos"/>
                <a:cs typeface="Aptos"/>
              </a:defRPr>
            </a:pPr>
            <a:r>
              <a:t>PDF result</a:t>
            </a:r>
          </a:p>
        </p:txBody>
      </p:sp>
      <p:sp>
        <p:nvSpPr>
          <p:cNvPr id="2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9B424D4C-A42A-4D89-BB32-81CA53E2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95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AAB4C2"/>
                </a:solidFill>
                <a:latin typeface="Aptos"/>
                <a:ea typeface="Aptos"/>
                <a:cs typeface="Aptos"/>
              </a:defRPr>
            </a:pPr>
            <a:r>
              <a:t>GrowKaro product overview | Local project sources</a:t>
            </a:r>
          </a:p>
        </p:txBody>
      </p:sp>
      <p:sp>
        <p:nvSpPr>
          <p:cNvPr id="2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01ABDD8-B672-43C3-BF6D-37B48464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AB4C2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623929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E4283B5-2E6D-4BA9-84D4-A52DE983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5CFF"/>
          </a:solidFill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34ADE53-5840-49A0-A6B9-21B952BB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3048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A5CFF"/>
                </a:solidFill>
                <a:latin typeface="Aptos"/>
                <a:ea typeface="Aptos"/>
                <a:cs typeface="Aptos"/>
              </a:defRPr>
            </a:pPr>
            <a:r>
              <a:t>THE PROBLEM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EB3AF66-873E-470A-9144-C6A5B4F0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837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7111D"/>
                </a:solidFill>
                <a:latin typeface="Aptos Display"/>
                <a:ea typeface="Aptos Display"/>
                <a:cs typeface="Aptos Display"/>
              </a:defRPr>
            </a:pPr>
            <a:r>
              <a:t>Small advertisers do not need more metrics. They need the next move.</a:t>
            </a:r>
          </a:p>
        </p:txBody>
      </p:sp>
      <p:sp>
        <p:nvSpPr>
          <p:cNvPr id="4" name="input-label">
            <a:extLst xmlns:a="http://schemas.openxmlformats.org/drawingml/2006/main">
              <a:ext uri="{FF2B5EF4-FFF2-40B4-BE49-F238E27FC236}">
                <a16:creationId xmlns:a16="http://schemas.microsoft.com/office/drawing/2014/main" id="{FD6F4BBF-8E99-4238-B49F-35D26EF8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47282"/>
                </a:solidFill>
                <a:latin typeface="Aptos"/>
                <a:ea typeface="Aptos"/>
                <a:cs typeface="Aptos"/>
              </a:defRPr>
            </a:pPr>
            <a:r>
              <a:t>WHAT ARRIVES</a:t>
            </a:r>
          </a:p>
        </p:txBody>
      </p:sp>
      <p:sp>
        <p:nvSpPr>
          <p:cNvPr id="5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01B15D1A-A078-43DF-A89D-A4ACF332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342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834F"/>
                </a:solidFill>
                <a:latin typeface="Aptos"/>
                <a:ea typeface="Aptos"/>
                <a:cs typeface="Aptos"/>
              </a:defRPr>
            </a:pPr>
            <a:r>
              <a:t>WHAT GROWKARO RETURNS</a:t>
            </a:r>
          </a:p>
        </p:txBody>
      </p:sp>
      <p:sp>
        <p:nvSpPr>
          <p:cNvPr id="6" name="raw-sheet">
            <a:extLst xmlns:a="http://schemas.openxmlformats.org/drawingml/2006/main">
              <a:ext uri="{FF2B5EF4-FFF2-40B4-BE49-F238E27FC236}">
                <a16:creationId xmlns:a16="http://schemas.microsoft.com/office/drawing/2014/main" id="{BC0CB4B7-F5A3-4968-9CBA-317FAFF0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4095750" cy="285750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E5E1"/>
            </a:solidFill>
            <a:prstDash val="solid"/>
          </a:ln>
        </p:spPr>
      </p:sp>
      <p:sp>
        <p:nvSpPr>
          <p:cNvPr id="7" name="raw-header">
            <a:extLst xmlns:a="http://schemas.openxmlformats.org/drawingml/2006/main">
              <a:ext uri="{FF2B5EF4-FFF2-40B4-BE49-F238E27FC236}">
                <a16:creationId xmlns:a16="http://schemas.microsoft.com/office/drawing/2014/main" id="{395B482C-91D2-4998-8337-A9E7B811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B"/>
          </a:solidFill>
        </p:spPr>
      </p:sp>
      <p:sp>
        <p:nvSpPr>
          <p:cNvPr id="8" name="raw-header-text">
            <a:extLst xmlns:a="http://schemas.openxmlformats.org/drawingml/2006/main">
              <a:ext uri="{FF2B5EF4-FFF2-40B4-BE49-F238E27FC236}">
                <a16:creationId xmlns:a16="http://schemas.microsoft.com/office/drawing/2014/main" id="{F4F7BF6B-755E-49D8-8C53-4D60EC19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373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Anonymous rows, binary responses, disconnected columns</a:t>
            </a:r>
          </a:p>
        </p:txBody>
      </p:sp>
      <p:sp>
        <p:nvSpPr>
          <p:cNvPr id="9" name="raw-row-0">
            <a:extLst xmlns:a="http://schemas.openxmlformats.org/drawingml/2006/main">
              <a:ext uri="{FF2B5EF4-FFF2-40B4-BE49-F238E27FC236}">
                <a16:creationId xmlns:a16="http://schemas.microsoft.com/office/drawing/2014/main" id="{871287B8-E38F-4E83-AE97-D98F1905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19425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1"/>
          </a:solidFill>
        </p:spPr>
      </p:sp>
      <p:sp>
        <p:nvSpPr>
          <p:cNvPr id="10" name="raw-ad-0">
            <a:extLst xmlns:a="http://schemas.openxmlformats.org/drawingml/2006/main">
              <a:ext uri="{FF2B5EF4-FFF2-40B4-BE49-F238E27FC236}">
                <a16:creationId xmlns:a16="http://schemas.microsoft.com/office/drawing/2014/main" id="{630112ED-9ED2-4391-9064-1B8FAD22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47282"/>
                </a:solidFill>
                <a:latin typeface="Aptos"/>
                <a:ea typeface="Aptos"/>
                <a:cs typeface="Aptos"/>
              </a:defRPr>
            </a:pPr>
            <a:r>
              <a:t>Ad 1</a:t>
            </a:r>
          </a:p>
        </p:txBody>
      </p:sp>
      <p:sp>
        <p:nvSpPr>
          <p:cNvPr id="11" name="raw-v1-0">
            <a:extLst xmlns:a="http://schemas.openxmlformats.org/drawingml/2006/main">
              <a:ext uri="{FF2B5EF4-FFF2-40B4-BE49-F238E27FC236}">
                <a16:creationId xmlns:a16="http://schemas.microsoft.com/office/drawing/2014/main" id="{30BD4D4F-4E27-4EC4-B25A-8186FA06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12" name="raw-v2-0">
            <a:extLst xmlns:a="http://schemas.openxmlformats.org/drawingml/2006/main">
              <a:ext uri="{FF2B5EF4-FFF2-40B4-BE49-F238E27FC236}">
                <a16:creationId xmlns:a16="http://schemas.microsoft.com/office/drawing/2014/main" id="{EF8D24ED-F28B-4911-98E2-AE14EB6D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0</a:t>
            </a:r>
          </a:p>
        </p:txBody>
      </p:sp>
      <p:sp>
        <p:nvSpPr>
          <p:cNvPr id="13" name="raw-v3-0">
            <a:extLst xmlns:a="http://schemas.openxmlformats.org/drawingml/2006/main">
              <a:ext uri="{FF2B5EF4-FFF2-40B4-BE49-F238E27FC236}">
                <a16:creationId xmlns:a16="http://schemas.microsoft.com/office/drawing/2014/main" id="{DBAFED02-9B7A-49BB-A089-D37E1C64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0</a:t>
            </a:r>
          </a:p>
        </p:txBody>
      </p:sp>
      <p:sp>
        <p:nvSpPr>
          <p:cNvPr id="14" name="raw-row-1">
            <a:extLst xmlns:a="http://schemas.openxmlformats.org/drawingml/2006/main">
              <a:ext uri="{FF2B5EF4-FFF2-40B4-BE49-F238E27FC236}">
                <a16:creationId xmlns:a16="http://schemas.microsoft.com/office/drawing/2014/main" id="{ADEED602-C398-471F-9AAE-2B6F4BD7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1"/>
          </a:solidFill>
        </p:spPr>
      </p:sp>
      <p:sp>
        <p:nvSpPr>
          <p:cNvPr id="15" name="raw-ad-1">
            <a:extLst xmlns:a="http://schemas.openxmlformats.org/drawingml/2006/main">
              <a:ext uri="{FF2B5EF4-FFF2-40B4-BE49-F238E27FC236}">
                <a16:creationId xmlns:a16="http://schemas.microsoft.com/office/drawing/2014/main" id="{466BF45D-562E-44A7-9242-FD272CB3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47282"/>
                </a:solidFill>
                <a:latin typeface="Aptos"/>
                <a:ea typeface="Aptos"/>
                <a:cs typeface="Aptos"/>
              </a:defRPr>
            </a:pPr>
            <a:r>
              <a:t>Ad 2</a:t>
            </a:r>
          </a:p>
        </p:txBody>
      </p:sp>
      <p:sp>
        <p:nvSpPr>
          <p:cNvPr id="16" name="raw-v1-1">
            <a:extLst xmlns:a="http://schemas.openxmlformats.org/drawingml/2006/main">
              <a:ext uri="{FF2B5EF4-FFF2-40B4-BE49-F238E27FC236}">
                <a16:creationId xmlns:a16="http://schemas.microsoft.com/office/drawing/2014/main" id="{8823857B-0EA4-4B5F-8939-880A7C1A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5814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0</a:t>
            </a:r>
          </a:p>
        </p:txBody>
      </p:sp>
      <p:sp>
        <p:nvSpPr>
          <p:cNvPr id="17" name="raw-v2-1">
            <a:extLst xmlns:a="http://schemas.openxmlformats.org/drawingml/2006/main">
              <a:ext uri="{FF2B5EF4-FFF2-40B4-BE49-F238E27FC236}">
                <a16:creationId xmlns:a16="http://schemas.microsoft.com/office/drawing/2014/main" id="{4F6A7C16-799D-4A64-B74C-53FE0441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5814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0</a:t>
            </a:r>
          </a:p>
        </p:txBody>
      </p:sp>
      <p:sp>
        <p:nvSpPr>
          <p:cNvPr id="18" name="raw-v3-1">
            <a:extLst xmlns:a="http://schemas.openxmlformats.org/drawingml/2006/main">
              <a:ext uri="{FF2B5EF4-FFF2-40B4-BE49-F238E27FC236}">
                <a16:creationId xmlns:a16="http://schemas.microsoft.com/office/drawing/2014/main" id="{98E9B29F-1217-4B7C-8EAE-7BA6D864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814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19" name="raw-row-2">
            <a:extLst xmlns:a="http://schemas.openxmlformats.org/drawingml/2006/main">
              <a:ext uri="{FF2B5EF4-FFF2-40B4-BE49-F238E27FC236}">
                <a16:creationId xmlns:a16="http://schemas.microsoft.com/office/drawing/2014/main" id="{A650927E-B5CF-405E-9B93-E3ADAC52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33825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1"/>
          </a:solidFill>
        </p:spPr>
      </p:sp>
      <p:sp>
        <p:nvSpPr>
          <p:cNvPr id="20" name="raw-ad-2">
            <a:extLst xmlns:a="http://schemas.openxmlformats.org/drawingml/2006/main">
              <a:ext uri="{FF2B5EF4-FFF2-40B4-BE49-F238E27FC236}">
                <a16:creationId xmlns:a16="http://schemas.microsoft.com/office/drawing/2014/main" id="{376724BB-CAED-4D11-BCB6-0019460F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47282"/>
                </a:solidFill>
                <a:latin typeface="Aptos"/>
                <a:ea typeface="Aptos"/>
                <a:cs typeface="Aptos"/>
              </a:defRPr>
            </a:pPr>
            <a:r>
              <a:t>Ad 3</a:t>
            </a:r>
          </a:p>
        </p:txBody>
      </p:sp>
      <p:sp>
        <p:nvSpPr>
          <p:cNvPr id="21" name="raw-v1-2">
            <a:extLst xmlns:a="http://schemas.openxmlformats.org/drawingml/2006/main">
              <a:ext uri="{FF2B5EF4-FFF2-40B4-BE49-F238E27FC236}">
                <a16:creationId xmlns:a16="http://schemas.microsoft.com/office/drawing/2014/main" id="{8BE0032C-3A7D-45B1-97B5-3B5D5BA7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386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0</a:t>
            </a:r>
          </a:p>
        </p:txBody>
      </p:sp>
      <p:sp>
        <p:nvSpPr>
          <p:cNvPr id="22" name="raw-v2-2">
            <a:extLst xmlns:a="http://schemas.openxmlformats.org/drawingml/2006/main">
              <a:ext uri="{FF2B5EF4-FFF2-40B4-BE49-F238E27FC236}">
                <a16:creationId xmlns:a16="http://schemas.microsoft.com/office/drawing/2014/main" id="{1C24848B-5910-4FA2-8278-1FC5B3B2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0386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23" name="raw-v3-2">
            <a:extLst xmlns:a="http://schemas.openxmlformats.org/drawingml/2006/main">
              <a:ext uri="{FF2B5EF4-FFF2-40B4-BE49-F238E27FC236}">
                <a16:creationId xmlns:a16="http://schemas.microsoft.com/office/drawing/2014/main" id="{7CE23D46-5B00-44D1-BEA0-6A00B0A2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386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0</a:t>
            </a:r>
          </a:p>
        </p:txBody>
      </p:sp>
      <p:sp>
        <p:nvSpPr>
          <p:cNvPr id="24" name="raw-row-3">
            <a:extLst xmlns:a="http://schemas.openxmlformats.org/drawingml/2006/main">
              <a:ext uri="{FF2B5EF4-FFF2-40B4-BE49-F238E27FC236}">
                <a16:creationId xmlns:a16="http://schemas.microsoft.com/office/drawing/2014/main" id="{230E5EBD-549E-4641-8030-E73B073D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91025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1"/>
          </a:solidFill>
        </p:spPr>
      </p:sp>
      <p:sp>
        <p:nvSpPr>
          <p:cNvPr id="25" name="raw-ad-3">
            <a:extLst xmlns:a="http://schemas.openxmlformats.org/drawingml/2006/main">
              <a:ext uri="{FF2B5EF4-FFF2-40B4-BE49-F238E27FC236}">
                <a16:creationId xmlns:a16="http://schemas.microsoft.com/office/drawing/2014/main" id="{A43C1D43-B85A-45DF-BD2D-88F3C17B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47282"/>
                </a:solidFill>
                <a:latin typeface="Aptos"/>
                <a:ea typeface="Aptos"/>
                <a:cs typeface="Aptos"/>
              </a:defRPr>
            </a:pPr>
            <a:r>
              <a:t>Ad 4</a:t>
            </a:r>
          </a:p>
        </p:txBody>
      </p:sp>
      <p:sp>
        <p:nvSpPr>
          <p:cNvPr id="26" name="raw-v1-3">
            <a:extLst xmlns:a="http://schemas.openxmlformats.org/drawingml/2006/main">
              <a:ext uri="{FF2B5EF4-FFF2-40B4-BE49-F238E27FC236}">
                <a16:creationId xmlns:a16="http://schemas.microsoft.com/office/drawing/2014/main" id="{5C309B3E-8793-4493-9072-53D2AEE8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958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0</a:t>
            </a:r>
          </a:p>
        </p:txBody>
      </p:sp>
      <p:sp>
        <p:nvSpPr>
          <p:cNvPr id="27" name="raw-v2-3">
            <a:extLst xmlns:a="http://schemas.openxmlformats.org/drawingml/2006/main">
              <a:ext uri="{FF2B5EF4-FFF2-40B4-BE49-F238E27FC236}">
                <a16:creationId xmlns:a16="http://schemas.microsoft.com/office/drawing/2014/main" id="{5B136F52-5E03-4893-8AE1-17027370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4958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0</a:t>
            </a:r>
          </a:p>
        </p:txBody>
      </p:sp>
      <p:sp>
        <p:nvSpPr>
          <p:cNvPr id="28" name="raw-v3-3">
            <a:extLst xmlns:a="http://schemas.openxmlformats.org/drawingml/2006/main">
              <a:ext uri="{FF2B5EF4-FFF2-40B4-BE49-F238E27FC236}">
                <a16:creationId xmlns:a16="http://schemas.microsoft.com/office/drawing/2014/main" id="{9ADFD43A-21CC-4B67-A237-54DF9147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958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0</a:t>
            </a:r>
          </a:p>
        </p:txBody>
      </p:sp>
      <p:sp>
        <p:nvSpPr>
          <p:cNvPr id="29" name="raw-question">
            <a:extLst xmlns:a="http://schemas.openxmlformats.org/drawingml/2006/main">
              <a:ext uri="{FF2B5EF4-FFF2-40B4-BE49-F238E27FC236}">
                <a16:creationId xmlns:a16="http://schemas.microsoft.com/office/drawing/2014/main" id="{A313DDF5-552F-45C2-8125-81D0DF30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3524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7A6A"/>
                </a:solidFill>
                <a:latin typeface="Aptos"/>
                <a:ea typeface="Aptos"/>
                <a:cs typeface="Aptos"/>
              </a:defRPr>
            </a:pPr>
            <a:r>
              <a:t>Which ad deserves the next rupee?</a:t>
            </a:r>
          </a:p>
        </p:txBody>
      </p:sp>
      <p:sp>
        <p:nvSpPr>
          <p:cNvPr id="30" name="decision-arrow:from-anchor">
            <a:extLst xmlns:a="http://schemas.openxmlformats.org/drawingml/2006/main">
              <a:ext uri="{FF2B5EF4-FFF2-40B4-BE49-F238E27FC236}">
                <a16:creationId xmlns:a16="http://schemas.microsoft.com/office/drawing/2014/main" id="{59471810-5021-4CBA-BF4E-6500D0E4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8242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decision-arrow:to-anchor">
            <a:extLst xmlns:a="http://schemas.openxmlformats.org/drawingml/2006/main">
              <a:ext uri="{FF2B5EF4-FFF2-40B4-BE49-F238E27FC236}">
                <a16:creationId xmlns:a16="http://schemas.microsoft.com/office/drawing/2014/main" id="{AAA43B84-6E68-4759-BA75-D64530A3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242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" name="decision-arrow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V="1">
            <a:off x="4944870" y="3825683"/>
            <a:ext cx="1571625" cy="673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9A5CFF"/>
            </a:solidFill>
            <a:prstDash val="solid"/>
            <a:headEnd type="none" w="med" len="med"/>
          </a:ln>
        </p:spPr>
      </p:cxnSp>
      <p:sp>
        <p:nvSpPr>
          <p:cNvPr id="33" name="decision-node">
            <a:extLst xmlns:a="http://schemas.openxmlformats.org/drawingml/2006/main">
              <a:ext uri="{FF2B5EF4-FFF2-40B4-BE49-F238E27FC236}">
                <a16:creationId xmlns:a16="http://schemas.microsoft.com/office/drawing/2014/main" id="{5791AFF8-4CCA-4CC3-8760-EC31E5C7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76625"/>
            <a:ext cx="7429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5CFF"/>
          </a:solidFill>
        </p:spPr>
      </p:sp>
      <p:sp>
        <p:nvSpPr>
          <p:cNvPr id="34" name="decision-node-text">
            <a:extLst xmlns:a="http://schemas.openxmlformats.org/drawingml/2006/main">
              <a:ext uri="{FF2B5EF4-FFF2-40B4-BE49-F238E27FC236}">
                <a16:creationId xmlns:a16="http://schemas.microsoft.com/office/drawing/2014/main" id="{992D3CF8-4DF5-450E-B3F4-04CBBF32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38550"/>
            <a:ext cx="51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UCB</a:t>
            </a:r>
          </a:p>
        </p:txBody>
      </p:sp>
      <p:sp>
        <p:nvSpPr>
          <p:cNvPr id="35" name="output-band-1">
            <a:extLst xmlns:a="http://schemas.openxmlformats.org/drawingml/2006/main">
              <a:ext uri="{FF2B5EF4-FFF2-40B4-BE49-F238E27FC236}">
                <a16:creationId xmlns:a16="http://schemas.microsoft.com/office/drawing/2014/main" id="{9870EF03-C84B-4D54-AE1C-9E8BAE99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28875"/>
            <a:ext cx="487680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DDF8EA"/>
          </a:solidFill>
        </p:spPr>
      </p:sp>
      <p:sp>
        <p:nvSpPr>
          <p:cNvPr id="36" name="output-rank">
            <a:extLst xmlns:a="http://schemas.openxmlformats.org/drawingml/2006/main">
              <a:ext uri="{FF2B5EF4-FFF2-40B4-BE49-F238E27FC236}">
                <a16:creationId xmlns:a16="http://schemas.microsoft.com/office/drawing/2014/main" id="{580DB389-1F6F-404B-8B8F-7822B591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7111D"/>
                </a:solidFill>
                <a:latin typeface="Aptos Display"/>
                <a:ea typeface="Aptos Display"/>
                <a:cs typeface="Aptos Display"/>
              </a:defRPr>
            </a:pPr>
            <a:r>
              <a:t>#1  Ad 5</a:t>
            </a:r>
          </a:p>
        </p:txBody>
      </p:sp>
      <p:sp>
        <p:nvSpPr>
          <p:cNvPr id="37" name="output-rank-sub">
            <a:extLst xmlns:a="http://schemas.openxmlformats.org/drawingml/2006/main">
              <a:ext uri="{FF2B5EF4-FFF2-40B4-BE49-F238E27FC236}">
                <a16:creationId xmlns:a16="http://schemas.microsoft.com/office/drawing/2014/main" id="{AAF10ACC-E715-4CA1-8833-4CB9CC03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09850"/>
            <a:ext cx="2190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2834F"/>
                </a:solidFill>
                <a:latin typeface="Aptos"/>
                <a:ea typeface="Aptos"/>
                <a:cs typeface="Aptos"/>
              </a:defRPr>
            </a:pPr>
            <a:r>
              <a:t>Highest observed CTR</a:t>
            </a:r>
          </a:p>
        </p:txBody>
      </p:sp>
      <p:sp>
        <p:nvSpPr>
          <p:cNvPr id="38" name="output-band-2">
            <a:extLst xmlns:a="http://schemas.openxmlformats.org/drawingml/2006/main">
              <a:ext uri="{FF2B5EF4-FFF2-40B4-BE49-F238E27FC236}">
                <a16:creationId xmlns:a16="http://schemas.microsoft.com/office/drawing/2014/main" id="{F8BF113A-62CB-4B8C-9741-8C147731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95650"/>
            <a:ext cx="4876800" cy="8763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E5FF"/>
          </a:solidFill>
        </p:spPr>
      </p:sp>
      <p:sp>
        <p:nvSpPr>
          <p:cNvPr id="39" name="output-budget">
            <a:extLst xmlns:a="http://schemas.openxmlformats.org/drawingml/2006/main">
              <a:ext uri="{FF2B5EF4-FFF2-40B4-BE49-F238E27FC236}">
                <a16:creationId xmlns:a16="http://schemas.microsoft.com/office/drawing/2014/main" id="{C3EB4298-F3BA-4F41-813D-DE922838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5E31A8"/>
                </a:solidFill>
                <a:latin typeface="Aptos Display"/>
                <a:ea typeface="Aptos Display"/>
                <a:cs typeface="Aptos Display"/>
              </a:defRPr>
            </a:pPr>
            <a:r>
              <a:t>INR 30,524</a:t>
            </a:r>
          </a:p>
        </p:txBody>
      </p:sp>
      <p:sp>
        <p:nvSpPr>
          <p:cNvPr id="40" name="output-budget-sub">
            <a:extLst xmlns:a="http://schemas.openxmlformats.org/drawingml/2006/main">
              <a:ext uri="{FF2B5EF4-FFF2-40B4-BE49-F238E27FC236}">
                <a16:creationId xmlns:a16="http://schemas.microsoft.com/office/drawing/2014/main" id="{AB27C4F7-7255-41D5-A9BE-206E9259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90950"/>
            <a:ext cx="419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Suggested share from an INR 100,000 budget</a:t>
            </a:r>
          </a:p>
        </p:txBody>
      </p:sp>
      <p:sp>
        <p:nvSpPr>
          <p:cNvPr id="41" name="output-band-3">
            <a:extLst xmlns:a="http://schemas.openxmlformats.org/drawingml/2006/main">
              <a:ext uri="{FF2B5EF4-FFF2-40B4-BE49-F238E27FC236}">
                <a16:creationId xmlns:a16="http://schemas.microsoft.com/office/drawing/2014/main" id="{1B5DB125-EA51-4BF6-AAD8-B7CA7920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95775"/>
            <a:ext cx="4876800" cy="9906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E1B29"/>
          </a:solidFill>
        </p:spPr>
      </p:sp>
      <p:sp>
        <p:nvSpPr>
          <p:cNvPr id="42" name="output-action">
            <a:extLst xmlns:a="http://schemas.openxmlformats.org/drawingml/2006/main">
              <a:ext uri="{FF2B5EF4-FFF2-40B4-BE49-F238E27FC236}">
                <a16:creationId xmlns:a16="http://schemas.microsoft.com/office/drawing/2014/main" id="{D4136E4C-0C09-47F6-BDE0-22C05F34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577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42E89D"/>
                </a:solidFill>
                <a:latin typeface="Aptos Display"/>
                <a:ea typeface="Aptos Display"/>
                <a:cs typeface="Aptos Display"/>
              </a:defRPr>
            </a:pPr>
            <a:r>
              <a:t>Spend first</a:t>
            </a:r>
          </a:p>
        </p:txBody>
      </p:sp>
      <p:sp>
        <p:nvSpPr>
          <p:cNvPr id="43" name="output-action-sub">
            <a:extLst xmlns:a="http://schemas.openxmlformats.org/drawingml/2006/main">
              <a:ext uri="{FF2B5EF4-FFF2-40B4-BE49-F238E27FC236}">
                <a16:creationId xmlns:a16="http://schemas.microsoft.com/office/drawing/2014/main" id="{4DEB97D5-D99E-4C4A-B728-2E3BFF01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10125"/>
            <a:ext cx="4286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A plain-language recommendation, saved with the analysis and exportable as PDF.</a:t>
            </a:r>
          </a:p>
        </p:txBody>
      </p:sp>
      <p:sp>
        <p:nvSpPr>
          <p:cNvPr id="44" name="transformation-note">
            <a:extLst xmlns:a="http://schemas.openxmlformats.org/drawingml/2006/main">
              <a:ext uri="{FF2B5EF4-FFF2-40B4-BE49-F238E27FC236}">
                <a16:creationId xmlns:a16="http://schemas.microsoft.com/office/drawing/2014/main" id="{F444E20A-5A3B-4606-8028-A2BFDD6D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81675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11D"/>
                </a:solidFill>
                <a:latin typeface="Aptos Display"/>
                <a:ea typeface="Aptos Display"/>
                <a:cs typeface="Aptos Display"/>
              </a:defRPr>
            </a:pPr>
            <a:r>
              <a:t>GrowKaro reduces the interpretation burden: rank, reason, budget, action.</a:t>
            </a:r>
          </a:p>
        </p:txBody>
      </p:sp>
      <p:sp>
        <p:nvSpPr>
          <p:cNvPr id="45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1B5544B-55CB-4C16-86D6-6E7918DE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95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282"/>
                </a:solidFill>
                <a:latin typeface="Aptos"/>
                <a:ea typeface="Aptos"/>
                <a:cs typeface="Aptos"/>
              </a:defRPr>
            </a:pPr>
            <a:r>
              <a:t>Source: GrowKaro workflow and result behavior</a:t>
            </a:r>
          </a:p>
        </p:txBody>
      </p:sp>
      <p:sp>
        <p:nvSpPr>
          <p:cNvPr id="4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045DD75-D14B-4076-B1CE-AA97D6AA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282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184241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8FBBC29-D5B1-4185-803F-5637AB4D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34F"/>
          </a:solidFill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482A52B-2EF1-4D59-AA79-50B50D73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3048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834F"/>
                </a:solidFill>
                <a:latin typeface="Aptos"/>
                <a:ea typeface="Aptos"/>
                <a:cs typeface="Aptos"/>
              </a:defRPr>
            </a:pPr>
            <a:r>
              <a:t>CLIENT JOURNEY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5EB2D0A6-25CB-4988-B393-B266A92C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858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5128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7111D"/>
                </a:solidFill>
                <a:latin typeface="Aptos Display"/>
                <a:ea typeface="Aptos Display"/>
                <a:cs typeface="Aptos Display"/>
              </a:defRPr>
            </a:pPr>
            <a:r>
              <a:t>One protected workflow takes a user from upload to action.</a:t>
            </a:r>
          </a:p>
        </p:txBody>
      </p:sp>
      <p:sp>
        <p:nvSpPr>
          <p:cNvPr id="4" name="protected-chip">
            <a:extLst xmlns:a="http://schemas.openxmlformats.org/drawingml/2006/main">
              <a:ext uri="{FF2B5EF4-FFF2-40B4-BE49-F238E27FC236}">
                <a16:creationId xmlns:a16="http://schemas.microsoft.com/office/drawing/2014/main" id="{C8D11183-715A-4BAD-A3D8-4F6C626D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5300"/>
            <a:ext cx="17526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B29"/>
          </a:solidFill>
        </p:spPr>
      </p:sp>
      <p:sp>
        <p:nvSpPr>
          <p:cNvPr id="5" name="protected-dot">
            <a:extLst xmlns:a="http://schemas.openxmlformats.org/drawingml/2006/main">
              <a:ext uri="{FF2B5EF4-FFF2-40B4-BE49-F238E27FC236}">
                <a16:creationId xmlns:a16="http://schemas.microsoft.com/office/drawing/2014/main" id="{B18E06E2-69DA-488B-8E50-0E0DC91A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7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9D"/>
          </a:solidFill>
        </p:spPr>
      </p:sp>
      <p:sp>
        <p:nvSpPr>
          <p:cNvPr id="6" name="protected-text">
            <a:extLst xmlns:a="http://schemas.openxmlformats.org/drawingml/2006/main">
              <a:ext uri="{FF2B5EF4-FFF2-40B4-BE49-F238E27FC236}">
                <a16:creationId xmlns:a16="http://schemas.microsoft.com/office/drawing/2014/main" id="{64DEE5BF-C029-4181-89D5-FBA0B37D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552450"/>
            <a:ext cx="1219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Protected results</a:t>
            </a:r>
          </a:p>
        </p:txBody>
      </p:sp>
      <p:sp>
        <p:nvSpPr>
          <p:cNvPr id="7" name="journey-line:from-anchor">
            <a:extLst xmlns:a="http://schemas.openxmlformats.org/drawingml/2006/main">
              <a:ext uri="{FF2B5EF4-FFF2-40B4-BE49-F238E27FC236}">
                <a16:creationId xmlns:a16="http://schemas.microsoft.com/office/drawing/2014/main" id="{4D4E04D6-0E95-4EEC-8DDB-0BC6DD81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9479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journey-line:to-anchor">
            <a:extLst xmlns:a="http://schemas.openxmlformats.org/drawingml/2006/main">
              <a:ext uri="{FF2B5EF4-FFF2-40B4-BE49-F238E27FC236}">
                <a16:creationId xmlns:a16="http://schemas.microsoft.com/office/drawing/2014/main" id="{B672CEB4-4063-4298-B187-EE2B8971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9479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" name="journey-line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1230120" y="2949383"/>
            <a:ext cx="9382125" cy="673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63646"/>
            </a:solidFill>
            <a:prstDash val="solid"/>
          </a:ln>
        </p:spPr>
      </p:cxnSp>
      <p:sp>
        <p:nvSpPr>
          <p:cNvPr id="10" name="stage-0-halo">
            <a:extLst xmlns:a="http://schemas.openxmlformats.org/drawingml/2006/main">
              <a:ext uri="{FF2B5EF4-FFF2-40B4-BE49-F238E27FC236}">
                <a16:creationId xmlns:a16="http://schemas.microsoft.com/office/drawing/2014/main" id="{6196523A-EC75-4691-AE75-42A1AE51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6"/>
          </a:solidFill>
          <a:ln xmlns:a="http://schemas.openxmlformats.org/drawingml/2006/main" w="28575">
            <a:solidFill>
              <a:srgbClr val="42E89D"/>
            </a:solidFill>
            <a:prstDash val="solid"/>
          </a:ln>
        </p:spPr>
      </p:sp>
      <p:sp>
        <p:nvSpPr>
          <p:cNvPr id="11" name="stage-0-core">
            <a:extLst xmlns:a="http://schemas.openxmlformats.org/drawingml/2006/main">
              <a:ext uri="{FF2B5EF4-FFF2-40B4-BE49-F238E27FC236}">
                <a16:creationId xmlns:a16="http://schemas.microsoft.com/office/drawing/2014/main" id="{B3F6ED98-6264-4E53-B3FE-6D9ECA00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9D"/>
          </a:solidFill>
        </p:spPr>
      </p:sp>
      <p:sp>
        <p:nvSpPr>
          <p:cNvPr id="12" name="stage-0-number">
            <a:extLst xmlns:a="http://schemas.openxmlformats.org/drawingml/2006/main">
              <a:ext uri="{FF2B5EF4-FFF2-40B4-BE49-F238E27FC236}">
                <a16:creationId xmlns:a16="http://schemas.microsoft.com/office/drawing/2014/main" id="{0C1A066B-B911-4F7D-8503-DE8314C0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47975"/>
            <a:ext cx="361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13" name="stage-0-label">
            <a:extLst xmlns:a="http://schemas.openxmlformats.org/drawingml/2006/main">
              <a:ext uri="{FF2B5EF4-FFF2-40B4-BE49-F238E27FC236}">
                <a16:creationId xmlns:a16="http://schemas.microsoft.com/office/drawing/2014/main" id="{66761860-9411-458E-825C-0E73D7AA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1409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7111D"/>
                </a:solidFill>
                <a:latin typeface="Aptos Display"/>
                <a:ea typeface="Aptos Display"/>
                <a:cs typeface="Aptos Display"/>
              </a:defRPr>
            </a:pPr>
            <a:r>
              <a:t>Authenticate</a:t>
            </a:r>
          </a:p>
        </p:txBody>
      </p:sp>
      <p:sp>
        <p:nvSpPr>
          <p:cNvPr id="14" name="stage-0-detail">
            <a:extLst xmlns:a="http://schemas.openxmlformats.org/drawingml/2006/main">
              <a:ext uri="{FF2B5EF4-FFF2-40B4-BE49-F238E27FC236}">
                <a16:creationId xmlns:a16="http://schemas.microsoft.com/office/drawing/2014/main" id="{9B50C63E-C91B-4757-99F6-C0D8AE34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48125"/>
            <a:ext cx="18288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47282"/>
                </a:solidFill>
                <a:latin typeface="Aptos"/>
                <a:ea typeface="Aptos"/>
                <a:cs typeface="Aptos"/>
              </a:defRPr>
            </a:pPr>
            <a:r>
              <a:t>Individual login protects every result.</a:t>
            </a:r>
          </a:p>
        </p:txBody>
      </p:sp>
      <p:sp>
        <p:nvSpPr>
          <p:cNvPr id="15" name="stage-1-halo">
            <a:extLst xmlns:a="http://schemas.openxmlformats.org/drawingml/2006/main">
              <a:ext uri="{FF2B5EF4-FFF2-40B4-BE49-F238E27FC236}">
                <a16:creationId xmlns:a16="http://schemas.microsoft.com/office/drawing/2014/main" id="{2D28ECA6-56D6-446D-8929-C8EDE1E9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908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6"/>
          </a:solidFill>
          <a:ln xmlns:a="http://schemas.openxmlformats.org/drawingml/2006/main" w="28575">
            <a:solidFill>
              <a:srgbClr val="34D8FF"/>
            </a:solidFill>
            <a:prstDash val="solid"/>
          </a:ln>
        </p:spPr>
      </p:sp>
      <p:sp>
        <p:nvSpPr>
          <p:cNvPr id="16" name="stage-1-core">
            <a:extLst xmlns:a="http://schemas.openxmlformats.org/drawingml/2006/main">
              <a:ext uri="{FF2B5EF4-FFF2-40B4-BE49-F238E27FC236}">
                <a16:creationId xmlns:a16="http://schemas.microsoft.com/office/drawing/2014/main" id="{1534FA99-0614-4D37-8D80-7CB2AB64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43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8FF"/>
          </a:solidFill>
        </p:spPr>
      </p:sp>
      <p:sp>
        <p:nvSpPr>
          <p:cNvPr id="17" name="stage-1-number">
            <a:extLst xmlns:a="http://schemas.openxmlformats.org/drawingml/2006/main">
              <a:ext uri="{FF2B5EF4-FFF2-40B4-BE49-F238E27FC236}">
                <a16:creationId xmlns:a16="http://schemas.microsoft.com/office/drawing/2014/main" id="{32C6355D-93A6-4811-9E5B-3088C841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847975"/>
            <a:ext cx="361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18" name="stage-1-label">
            <a:extLst xmlns:a="http://schemas.openxmlformats.org/drawingml/2006/main">
              <a:ext uri="{FF2B5EF4-FFF2-40B4-BE49-F238E27FC236}">
                <a16:creationId xmlns:a16="http://schemas.microsoft.com/office/drawing/2014/main" id="{0DED02E3-DE07-4A18-913B-787F65B9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0"/>
            <a:ext cx="1409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7111D"/>
                </a:solidFill>
                <a:latin typeface="Aptos Display"/>
                <a:ea typeface="Aptos Display"/>
                <a:cs typeface="Aptos Display"/>
              </a:defRPr>
            </a:pPr>
            <a:r>
              <a:t>Add data</a:t>
            </a:r>
          </a:p>
        </p:txBody>
      </p:sp>
      <p:sp>
        <p:nvSpPr>
          <p:cNvPr id="19" name="stage-1-detail">
            <a:extLst xmlns:a="http://schemas.openxmlformats.org/drawingml/2006/main">
              <a:ext uri="{FF2B5EF4-FFF2-40B4-BE49-F238E27FC236}">
                <a16:creationId xmlns:a16="http://schemas.microsoft.com/office/drawing/2014/main" id="{9892471B-B4F6-4BA7-ACF9-52D8B2F4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48125"/>
            <a:ext cx="18288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47282"/>
                </a:solidFill>
                <a:latin typeface="Aptos"/>
                <a:ea typeface="Aptos"/>
                <a:cs typeface="Aptos"/>
              </a:defRPr>
            </a:pPr>
            <a:r>
              <a:t>Upload CSV/XLSX or enter ads manually.</a:t>
            </a:r>
          </a:p>
        </p:txBody>
      </p:sp>
      <p:sp>
        <p:nvSpPr>
          <p:cNvPr id="20" name="stage-2-halo">
            <a:extLst xmlns:a="http://schemas.openxmlformats.org/drawingml/2006/main">
              <a:ext uri="{FF2B5EF4-FFF2-40B4-BE49-F238E27FC236}">
                <a16:creationId xmlns:a16="http://schemas.microsoft.com/office/drawing/2014/main" id="{6775F7F8-6D0A-4FF8-8F7F-F4ACE110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908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6"/>
          </a:solidFill>
          <a:ln xmlns:a="http://schemas.openxmlformats.org/drawingml/2006/main" w="28575">
            <a:solidFill>
              <a:srgbClr val="FFD166"/>
            </a:solidFill>
            <a:prstDash val="solid"/>
          </a:ln>
        </p:spPr>
      </p:sp>
      <p:sp>
        <p:nvSpPr>
          <p:cNvPr id="21" name="stage-2-core">
            <a:extLst xmlns:a="http://schemas.openxmlformats.org/drawingml/2006/main">
              <a:ext uri="{FF2B5EF4-FFF2-40B4-BE49-F238E27FC236}">
                <a16:creationId xmlns:a16="http://schemas.microsoft.com/office/drawing/2014/main" id="{91A5CECF-4486-4A82-B237-2F62CF56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43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</p:spPr>
      </p:sp>
      <p:sp>
        <p:nvSpPr>
          <p:cNvPr id="22" name="stage-2-number">
            <a:extLst xmlns:a="http://schemas.openxmlformats.org/drawingml/2006/main">
              <a:ext uri="{FF2B5EF4-FFF2-40B4-BE49-F238E27FC236}">
                <a16:creationId xmlns:a16="http://schemas.microsoft.com/office/drawing/2014/main" id="{8649E621-5510-4629-9973-9EC8B3D8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847975"/>
            <a:ext cx="361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23" name="stage-2-label">
            <a:extLst xmlns:a="http://schemas.openxmlformats.org/drawingml/2006/main">
              <a:ext uri="{FF2B5EF4-FFF2-40B4-BE49-F238E27FC236}">
                <a16:creationId xmlns:a16="http://schemas.microsoft.com/office/drawing/2014/main" id="{BA0C6336-C5A6-45A9-94B3-36EAD8E9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19500"/>
            <a:ext cx="1409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7111D"/>
                </a:solidFill>
                <a:latin typeface="Aptos Display"/>
                <a:ea typeface="Aptos Display"/>
                <a:cs typeface="Aptos Display"/>
              </a:defRPr>
            </a:pPr>
            <a:r>
              <a:t>Validate</a:t>
            </a:r>
          </a:p>
        </p:txBody>
      </p:sp>
      <p:sp>
        <p:nvSpPr>
          <p:cNvPr id="24" name="stage-2-detail">
            <a:extLst xmlns:a="http://schemas.openxmlformats.org/drawingml/2006/main">
              <a:ext uri="{FF2B5EF4-FFF2-40B4-BE49-F238E27FC236}">
                <a16:creationId xmlns:a16="http://schemas.microsoft.com/office/drawing/2014/main" id="{490B560F-8D77-44DE-94B3-D72113F5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48125"/>
            <a:ext cx="18288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47282"/>
                </a:solidFill>
                <a:latin typeface="Aptos"/>
                <a:ea typeface="Aptos"/>
                <a:cs typeface="Aptos"/>
              </a:defRPr>
            </a:pPr>
            <a:r>
              <a:t>Check columns, rows, and usable response data.</a:t>
            </a:r>
          </a:p>
        </p:txBody>
      </p:sp>
      <p:sp>
        <p:nvSpPr>
          <p:cNvPr id="25" name="stage-3-halo">
            <a:extLst xmlns:a="http://schemas.openxmlformats.org/drawingml/2006/main">
              <a:ext uri="{FF2B5EF4-FFF2-40B4-BE49-F238E27FC236}">
                <a16:creationId xmlns:a16="http://schemas.microsoft.com/office/drawing/2014/main" id="{95BE9A96-6517-4C58-A0D0-2CD3D69B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908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6"/>
          </a:solidFill>
          <a:ln xmlns:a="http://schemas.openxmlformats.org/drawingml/2006/main" w="28575">
            <a:solidFill>
              <a:srgbClr val="9A5CFF"/>
            </a:solidFill>
            <a:prstDash val="solid"/>
          </a:ln>
        </p:spPr>
      </p:sp>
      <p:sp>
        <p:nvSpPr>
          <p:cNvPr id="26" name="stage-3-core">
            <a:extLst xmlns:a="http://schemas.openxmlformats.org/drawingml/2006/main">
              <a:ext uri="{FF2B5EF4-FFF2-40B4-BE49-F238E27FC236}">
                <a16:creationId xmlns:a16="http://schemas.microsoft.com/office/drawing/2014/main" id="{C507AA1F-E3AB-4844-BF7F-EAA3451B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43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5CFF"/>
          </a:solidFill>
        </p:spPr>
      </p:sp>
      <p:sp>
        <p:nvSpPr>
          <p:cNvPr id="27" name="stage-3-number">
            <a:extLst xmlns:a="http://schemas.openxmlformats.org/drawingml/2006/main">
              <a:ext uri="{FF2B5EF4-FFF2-40B4-BE49-F238E27FC236}">
                <a16:creationId xmlns:a16="http://schemas.microsoft.com/office/drawing/2014/main" id="{8FFBC3D0-4B89-4443-9740-2D82405B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47975"/>
            <a:ext cx="361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28" name="stage-3-label">
            <a:extLst xmlns:a="http://schemas.openxmlformats.org/drawingml/2006/main">
              <a:ext uri="{FF2B5EF4-FFF2-40B4-BE49-F238E27FC236}">
                <a16:creationId xmlns:a16="http://schemas.microsoft.com/office/drawing/2014/main" id="{D56C0547-91AF-4C5D-B6F2-11257116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19500"/>
            <a:ext cx="1409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7111D"/>
                </a:solidFill>
                <a:latin typeface="Aptos Display"/>
                <a:ea typeface="Aptos Display"/>
                <a:cs typeface="Aptos Display"/>
              </a:defRPr>
            </a:pPr>
            <a:r>
              <a:t>Learn</a:t>
            </a:r>
          </a:p>
        </p:txBody>
      </p:sp>
      <p:sp>
        <p:nvSpPr>
          <p:cNvPr id="29" name="stage-3-detail">
            <a:extLst xmlns:a="http://schemas.openxmlformats.org/drawingml/2006/main">
              <a:ext uri="{FF2B5EF4-FFF2-40B4-BE49-F238E27FC236}">
                <a16:creationId xmlns:a16="http://schemas.microsoft.com/office/drawing/2014/main" id="{4FE1B04D-C8AC-4875-9E25-7593CF4F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48125"/>
            <a:ext cx="18288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47282"/>
                </a:solidFill>
                <a:latin typeface="Aptos"/>
                <a:ea typeface="Aptos"/>
                <a:cs typeface="Aptos"/>
              </a:defRPr>
            </a:pPr>
            <a:r>
              <a:t>UCB and bandit models rank performance.</a:t>
            </a:r>
          </a:p>
        </p:txBody>
      </p:sp>
      <p:sp>
        <p:nvSpPr>
          <p:cNvPr id="30" name="stage-4-halo">
            <a:extLst xmlns:a="http://schemas.openxmlformats.org/drawingml/2006/main">
              <a:ext uri="{FF2B5EF4-FFF2-40B4-BE49-F238E27FC236}">
                <a16:creationId xmlns:a16="http://schemas.microsoft.com/office/drawing/2014/main" id="{B5C3D0D2-9982-4E93-837B-2E49F8C2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908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6"/>
          </a:solidFill>
          <a:ln xmlns:a="http://schemas.openxmlformats.org/drawingml/2006/main" w="28575">
            <a:solidFill>
              <a:srgbClr val="FF7A6A"/>
            </a:solidFill>
            <a:prstDash val="solid"/>
          </a:ln>
        </p:spPr>
      </p:sp>
      <p:sp>
        <p:nvSpPr>
          <p:cNvPr id="31" name="stage-4-core">
            <a:extLst xmlns:a="http://schemas.openxmlformats.org/drawingml/2006/main">
              <a:ext uri="{FF2B5EF4-FFF2-40B4-BE49-F238E27FC236}">
                <a16:creationId xmlns:a16="http://schemas.microsoft.com/office/drawing/2014/main" id="{AB4684A7-D4F8-4CF1-8BC9-54DBAECB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43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6A"/>
          </a:solidFill>
        </p:spPr>
      </p:sp>
      <p:sp>
        <p:nvSpPr>
          <p:cNvPr id="32" name="stage-4-number">
            <a:extLst xmlns:a="http://schemas.openxmlformats.org/drawingml/2006/main">
              <a:ext uri="{FF2B5EF4-FFF2-40B4-BE49-F238E27FC236}">
                <a16:creationId xmlns:a16="http://schemas.microsoft.com/office/drawing/2014/main" id="{696DEA7A-BE4A-4BF3-90FD-97E8F559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847975"/>
            <a:ext cx="361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33" name="stage-4-label">
            <a:extLst xmlns:a="http://schemas.openxmlformats.org/drawingml/2006/main">
              <a:ext uri="{FF2B5EF4-FFF2-40B4-BE49-F238E27FC236}">
                <a16:creationId xmlns:a16="http://schemas.microsoft.com/office/drawing/2014/main" id="{070B68EF-B24A-47B6-82B8-1D84862C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19500"/>
            <a:ext cx="1409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7111D"/>
                </a:solidFill>
                <a:latin typeface="Aptos Display"/>
                <a:ea typeface="Aptos Display"/>
                <a:cs typeface="Aptos Display"/>
              </a:defRPr>
            </a:pPr>
            <a:r>
              <a:t>Act</a:t>
            </a:r>
          </a:p>
        </p:txBody>
      </p:sp>
      <p:sp>
        <p:nvSpPr>
          <p:cNvPr id="34" name="stage-4-detail">
            <a:extLst xmlns:a="http://schemas.openxmlformats.org/drawingml/2006/main">
              <a:ext uri="{FF2B5EF4-FFF2-40B4-BE49-F238E27FC236}">
                <a16:creationId xmlns:a16="http://schemas.microsoft.com/office/drawing/2014/main" id="{3F8F1DD8-2F2A-40DD-A129-4AAEAEEE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48125"/>
            <a:ext cx="18288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47282"/>
                </a:solidFill>
                <a:latin typeface="Aptos"/>
                <a:ea typeface="Aptos"/>
                <a:cs typeface="Aptos"/>
              </a:defRPr>
            </a:pPr>
            <a:r>
              <a:t>Review all ads, budget, history, and PDF.</a:t>
            </a:r>
          </a:p>
        </p:txBody>
      </p:sp>
      <p:sp>
        <p:nvSpPr>
          <p:cNvPr id="35" name="outcome-band">
            <a:extLst xmlns:a="http://schemas.openxmlformats.org/drawingml/2006/main">
              <a:ext uri="{FF2B5EF4-FFF2-40B4-BE49-F238E27FC236}">
                <a16:creationId xmlns:a16="http://schemas.microsoft.com/office/drawing/2014/main" id="{D0E20BB5-138B-4BCE-8640-DCE15AFF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E1B29"/>
          </a:solidFill>
        </p:spPr>
      </p:sp>
      <p:sp>
        <p:nvSpPr>
          <p:cNvPr id="36" name="outcome-intro">
            <a:extLst xmlns:a="http://schemas.openxmlformats.org/drawingml/2006/main">
              <a:ext uri="{FF2B5EF4-FFF2-40B4-BE49-F238E27FC236}">
                <a16:creationId xmlns:a16="http://schemas.microsoft.com/office/drawing/2014/main" id="{C4FBD75C-D31E-482F-BC9C-DB991D66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81625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2E89D"/>
                </a:solidFill>
                <a:latin typeface="Aptos"/>
                <a:ea typeface="Aptos"/>
                <a:cs typeface="Aptos"/>
              </a:defRPr>
            </a:pPr>
            <a:r>
              <a:t>USER RECEIVES</a:t>
            </a:r>
          </a:p>
        </p:txBody>
      </p:sp>
      <p:sp>
        <p:nvSpPr>
          <p:cNvPr id="37" name="outcome-list">
            <a:extLst xmlns:a="http://schemas.openxmlformats.org/drawingml/2006/main">
              <a:ext uri="{FF2B5EF4-FFF2-40B4-BE49-F238E27FC236}">
                <a16:creationId xmlns:a16="http://schemas.microsoft.com/office/drawing/2014/main" id="{E73EDEBE-34EB-4CBB-B486-B7FE50EA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314950"/>
            <a:ext cx="857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Ranked CTR  |  budget split  |  saved history  |  detailed PDF</a:t>
            </a:r>
          </a:p>
        </p:txBody>
      </p:sp>
      <p:sp>
        <p:nvSpPr>
          <p:cNvPr id="3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A37E945F-19F9-4B14-9A03-C1DBC7BC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95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282"/>
                </a:solidFill>
                <a:latin typeface="Aptos"/>
                <a:ea typeface="Aptos"/>
                <a:cs typeface="Aptos"/>
              </a:defRPr>
            </a:pPr>
            <a:r>
              <a:t>Source: GrowKaro authentication, analysis, history, and export flow</a:t>
            </a:r>
          </a:p>
        </p:txBody>
      </p:sp>
      <p:sp>
        <p:nvSpPr>
          <p:cNvPr id="3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8EB4193-89AF-44B2-BC81-ECF372F7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282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67622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AE0D27A-5F21-408F-A722-99A04184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9D"/>
          </a:solidFill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ABD4B5A-87DC-4685-B440-675D7ADF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3048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2E89D"/>
                </a:solidFill>
                <a:latin typeface="Aptos"/>
                <a:ea typeface="Aptos"/>
                <a:cs typeface="Aptos"/>
              </a:defRPr>
            </a:pPr>
            <a:r>
              <a:t>PERFORMANCE PROOF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5533B79-321F-4D95-9501-95DE64CC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531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In the 10,000-row sample, Ad 5 captures the strongest signal.</a:t>
            </a:r>
          </a:p>
        </p:txBody>
      </p:sp>
      <p:sp>
        <p:nvSpPr>
          <p:cNvPr id="4" name="chart-label">
            <a:extLst xmlns:a="http://schemas.openxmlformats.org/drawingml/2006/main">
              <a:ext uri="{FF2B5EF4-FFF2-40B4-BE49-F238E27FC236}">
                <a16:creationId xmlns:a16="http://schemas.microsoft.com/office/drawing/2014/main" id="{48A10954-CC1B-4B34-B04B-1C18E4ED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AB4C2"/>
                </a:solidFill>
                <a:latin typeface="Aptos"/>
                <a:ea typeface="Aptos"/>
                <a:cs typeface="Aptos"/>
              </a:defRPr>
            </a:pPr>
            <a:r>
              <a:t>RANKED CLICK-THROUGH RATE</a:t>
            </a:r>
          </a:p>
        </p:txBody>
      </p:sp>
      <p:sp>
        <p:nvSpPr>
          <p:cNvPr id="5" name="chart-axis">
            <a:extLst xmlns:a="http://schemas.openxmlformats.org/drawingml/2006/main">
              <a:ext uri="{FF2B5EF4-FFF2-40B4-BE49-F238E27FC236}">
                <a16:creationId xmlns:a16="http://schemas.microsoft.com/office/drawing/2014/main" id="{BDFDC352-286D-479B-AC0F-9B7B4C43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5265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6"/>
          </a:solidFill>
        </p:spPr>
      </p:sp>
      <p:sp>
        <p:nvSpPr>
          <p:cNvPr id="6" name="axis-zero">
            <a:extLst xmlns:a="http://schemas.openxmlformats.org/drawingml/2006/main">
              <a:ext uri="{FF2B5EF4-FFF2-40B4-BE49-F238E27FC236}">
                <a16:creationId xmlns:a16="http://schemas.microsoft.com/office/drawing/2014/main" id="{5A188182-3201-4AC1-9FD6-0BB54FE4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00700"/>
            <a:ext cx="28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AAB4C2"/>
                </a:solidFill>
                <a:latin typeface="Aptos"/>
                <a:ea typeface="Aptos"/>
                <a:cs typeface="Aptos"/>
              </a:defRPr>
            </a:pPr>
            <a:r>
              <a:t>0%</a:t>
            </a:r>
          </a:p>
        </p:txBody>
      </p:sp>
      <p:sp>
        <p:nvSpPr>
          <p:cNvPr id="7" name="axis-max">
            <a:extLst xmlns:a="http://schemas.openxmlformats.org/drawingml/2006/main">
              <a:ext uri="{FF2B5EF4-FFF2-40B4-BE49-F238E27FC236}">
                <a16:creationId xmlns:a16="http://schemas.microsoft.com/office/drawing/2014/main" id="{7E8AFD5F-9CEE-4DD4-B0A7-E07999D6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6007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AAB4C2"/>
                </a:solidFill>
                <a:latin typeface="Aptos"/>
                <a:ea typeface="Aptos"/>
                <a:cs typeface="Aptos"/>
              </a:defRPr>
            </a:pPr>
            <a:r>
              <a:t>30%</a:t>
            </a:r>
          </a:p>
        </p:txBody>
      </p:sp>
      <p:sp>
        <p:nvSpPr>
          <p:cNvPr id="8" name="allocation-rail">
            <a:extLst xmlns:a="http://schemas.openxmlformats.org/drawingml/2006/main">
              <a:ext uri="{FF2B5EF4-FFF2-40B4-BE49-F238E27FC236}">
                <a16:creationId xmlns:a16="http://schemas.microsoft.com/office/drawing/2014/main" id="{A15A071F-F73C-4F1C-B841-2597DDE7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47850"/>
            <a:ext cx="4248150" cy="4076700"/>
          </a:xfrm>
          <a:prstGeom xmlns:a="http://schemas.openxmlformats.org/drawingml/2006/main" prst="roundRect">
            <a:avLst>
              <a:gd name="adj" fmla="val 1402"/>
            </a:avLst>
          </a:prstGeom>
          <a:solidFill xmlns:a="http://schemas.openxmlformats.org/drawingml/2006/main">
            <a:srgbClr val="0E1B29"/>
          </a:solidFill>
          <a:ln xmlns:a="http://schemas.openxmlformats.org/drawingml/2006/main" w="19050">
            <a:solidFill>
              <a:srgbClr val="263646"/>
            </a:solidFill>
            <a:prstDash val="solid"/>
          </a:ln>
        </p:spPr>
      </p:sp>
      <p:sp>
        <p:nvSpPr>
          <p:cNvPr id="9" name="allocation-label">
            <a:extLst xmlns:a="http://schemas.openxmlformats.org/drawingml/2006/main">
              <a:ext uri="{FF2B5EF4-FFF2-40B4-BE49-F238E27FC236}">
                <a16:creationId xmlns:a16="http://schemas.microsoft.com/office/drawing/2014/main" id="{E2AC88F6-B7BD-43F4-ABBD-6E1A05BC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14550"/>
            <a:ext cx="2952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A5CFF"/>
                </a:solidFill>
                <a:latin typeface="Aptos"/>
                <a:ea typeface="Aptos"/>
                <a:cs typeface="Aptos"/>
              </a:defRPr>
            </a:pPr>
            <a:r>
              <a:t>BUDGET TRANSLATION</a:t>
            </a:r>
          </a:p>
        </p:txBody>
      </p:sp>
      <p:sp>
        <p:nvSpPr>
          <p:cNvPr id="10" name="allocation-title">
            <a:extLst xmlns:a="http://schemas.openxmlformats.org/drawingml/2006/main">
              <a:ext uri="{FF2B5EF4-FFF2-40B4-BE49-F238E27FC236}">
                <a16:creationId xmlns:a16="http://schemas.microsoft.com/office/drawing/2014/main" id="{CECAFCC0-D23B-458A-8E5E-9DBF2126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57450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INR 100,000</a:t>
            </a:r>
          </a:p>
        </p:txBody>
      </p:sp>
      <p:sp>
        <p:nvSpPr>
          <p:cNvPr id="11" name="allocation-sub">
            <a:extLst xmlns:a="http://schemas.openxmlformats.org/drawingml/2006/main">
              <a:ext uri="{FF2B5EF4-FFF2-40B4-BE49-F238E27FC236}">
                <a16:creationId xmlns:a16="http://schemas.microsoft.com/office/drawing/2014/main" id="{68F21086-A7E8-4A81-9205-36EB5FFF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52750"/>
            <a:ext cx="342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4C2"/>
                </a:solidFill>
                <a:latin typeface="Aptos"/>
                <a:ea typeface="Aptos"/>
                <a:cs typeface="Aptos"/>
              </a:defRPr>
            </a:pPr>
            <a:r>
              <a:t>Illustrative total budget allocated across all ranked ads.</a:t>
            </a:r>
          </a:p>
        </p:txBody>
      </p:sp>
      <p:sp>
        <p:nvSpPr>
          <p:cNvPr id="12" name="allocation-rule-1">
            <a:extLst xmlns:a="http://schemas.openxmlformats.org/drawingml/2006/main">
              <a:ext uri="{FF2B5EF4-FFF2-40B4-BE49-F238E27FC236}">
                <a16:creationId xmlns:a16="http://schemas.microsoft.com/office/drawing/2014/main" id="{19FE32F5-E622-4B43-8B79-60A0C1CB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339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6"/>
          </a:solidFill>
        </p:spPr>
      </p:sp>
      <p:sp>
        <p:nvSpPr>
          <p:cNvPr id="13" name="allocation-ad5">
            <a:extLst xmlns:a="http://schemas.openxmlformats.org/drawingml/2006/main">
              <a:ext uri="{FF2B5EF4-FFF2-40B4-BE49-F238E27FC236}">
                <a16:creationId xmlns:a16="http://schemas.microsoft.com/office/drawing/2014/main" id="{EA35512F-9FFF-4C46-AE8E-A7A3F4A0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57625"/>
            <a:ext cx="95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2E89D"/>
                </a:solidFill>
                <a:latin typeface="Aptos"/>
                <a:ea typeface="Aptos"/>
                <a:cs typeface="Aptos"/>
              </a:defRPr>
            </a:pPr>
            <a:r>
              <a:t>Ad 5</a:t>
            </a:r>
          </a:p>
        </p:txBody>
      </p:sp>
      <p:sp>
        <p:nvSpPr>
          <p:cNvPr id="14" name="allocation-ad5-val">
            <a:extLst xmlns:a="http://schemas.openxmlformats.org/drawingml/2006/main">
              <a:ext uri="{FF2B5EF4-FFF2-40B4-BE49-F238E27FC236}">
                <a16:creationId xmlns:a16="http://schemas.microsoft.com/office/drawing/2014/main" id="{1F8F4154-7167-4A1A-AFB6-6E8DBB2D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57625"/>
            <a:ext cx="2143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30.5%  |  INR 30,524</a:t>
            </a:r>
          </a:p>
        </p:txBody>
      </p:sp>
      <p:sp>
        <p:nvSpPr>
          <p:cNvPr id="15" name="allocation-rule-2">
            <a:extLst xmlns:a="http://schemas.openxmlformats.org/drawingml/2006/main">
              <a:ext uri="{FF2B5EF4-FFF2-40B4-BE49-F238E27FC236}">
                <a16:creationId xmlns:a16="http://schemas.microsoft.com/office/drawing/2014/main" id="{8AD582B0-6131-456E-A5D0-83CA5123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95775"/>
            <a:ext cx="339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6"/>
          </a:solidFill>
        </p:spPr>
      </p:sp>
      <p:sp>
        <p:nvSpPr>
          <p:cNvPr id="16" name="allocation-ad8">
            <a:extLst xmlns:a="http://schemas.openxmlformats.org/drawingml/2006/main">
              <a:ext uri="{FF2B5EF4-FFF2-40B4-BE49-F238E27FC236}">
                <a16:creationId xmlns:a16="http://schemas.microsoft.com/office/drawing/2014/main" id="{AF2CD9A0-865B-4A42-BA8E-4A39D5CD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95800"/>
            <a:ext cx="95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D8FF"/>
                </a:solidFill>
                <a:latin typeface="Aptos"/>
                <a:ea typeface="Aptos"/>
                <a:cs typeface="Aptos"/>
              </a:defRPr>
            </a:pPr>
            <a:r>
              <a:t>Ad 8</a:t>
            </a:r>
          </a:p>
        </p:txBody>
      </p:sp>
      <p:sp>
        <p:nvSpPr>
          <p:cNvPr id="17" name="allocation-ad8-val">
            <a:extLst xmlns:a="http://schemas.openxmlformats.org/drawingml/2006/main">
              <a:ext uri="{FF2B5EF4-FFF2-40B4-BE49-F238E27FC236}">
                <a16:creationId xmlns:a16="http://schemas.microsoft.com/office/drawing/2014/main" id="{D97B504E-3A5C-41D7-850D-E6865BA2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95800"/>
            <a:ext cx="2143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21.3%  |  INR 21,315</a:t>
            </a:r>
          </a:p>
        </p:txBody>
      </p:sp>
      <p:sp>
        <p:nvSpPr>
          <p:cNvPr id="18" name="allocation-rule-3">
            <a:extLst xmlns:a="http://schemas.openxmlformats.org/drawingml/2006/main">
              <a:ext uri="{FF2B5EF4-FFF2-40B4-BE49-F238E27FC236}">
                <a16:creationId xmlns:a16="http://schemas.microsoft.com/office/drawing/2014/main" id="{A03E2593-DEB1-41F1-AC67-B60656C2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53000"/>
            <a:ext cx="339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6"/>
          </a:solidFill>
        </p:spPr>
      </p:sp>
      <p:sp>
        <p:nvSpPr>
          <p:cNvPr id="19" name="allocation-rest">
            <a:extLst xmlns:a="http://schemas.openxmlformats.org/drawingml/2006/main">
              <a:ext uri="{FF2B5EF4-FFF2-40B4-BE49-F238E27FC236}">
                <a16:creationId xmlns:a16="http://schemas.microsoft.com/office/drawing/2014/main" id="{1967F1ED-E234-4558-9076-403575EB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625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AB4C2"/>
                </a:solidFill>
                <a:latin typeface="Aptos"/>
                <a:ea typeface="Aptos"/>
                <a:cs typeface="Aptos"/>
              </a:defRPr>
            </a:pPr>
            <a:r>
              <a:t>Remaining eight ads</a:t>
            </a:r>
          </a:p>
        </p:txBody>
      </p:sp>
      <p:sp>
        <p:nvSpPr>
          <p:cNvPr id="20" name="allocation-rest-val">
            <a:extLst xmlns:a="http://schemas.openxmlformats.org/drawingml/2006/main">
              <a:ext uri="{FF2B5EF4-FFF2-40B4-BE49-F238E27FC236}">
                <a16:creationId xmlns:a16="http://schemas.microsoft.com/office/drawing/2014/main" id="{D2103783-0FD2-4A7B-943C-CBA36E59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24450"/>
            <a:ext cx="10953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 i="0">
                <a:solidFill>
                  <a:srgbClr val="9A5CFF"/>
                </a:solidFill>
                <a:latin typeface="Aptos Display"/>
                <a:ea typeface="Aptos Display"/>
                <a:cs typeface="Aptos Display"/>
              </a:defRPr>
            </a:pPr>
            <a:r>
              <a:t>48.2%</a:t>
            </a:r>
          </a:p>
        </p:txBody>
      </p:sp>
      <p:sp>
        <p:nvSpPr>
          <p:cNvPr id="21" name="bar-label-0">
            <a:extLst xmlns:a="http://schemas.openxmlformats.org/drawingml/2006/main">
              <a:ext uri="{FF2B5EF4-FFF2-40B4-BE49-F238E27FC236}">
                <a16:creationId xmlns:a16="http://schemas.microsoft.com/office/drawing/2014/main" id="{52012054-A656-499B-839E-E1F001B8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Ad 5</a:t>
            </a:r>
          </a:p>
        </p:txBody>
      </p:sp>
      <p:sp>
        <p:nvSpPr>
          <p:cNvPr id="22" name="bar-track-0">
            <a:extLst xmlns:a="http://schemas.openxmlformats.org/drawingml/2006/main">
              <a:ext uri="{FF2B5EF4-FFF2-40B4-BE49-F238E27FC236}">
                <a16:creationId xmlns:a16="http://schemas.microsoft.com/office/drawing/2014/main" id="{8325F802-40F2-4A2C-B591-03AE2287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66950"/>
            <a:ext cx="452437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2433"/>
          </a:solidFill>
        </p:spPr>
      </p:sp>
      <p:sp>
        <p:nvSpPr>
          <p:cNvPr id="23" name="bar-value-0">
            <a:extLst xmlns:a="http://schemas.openxmlformats.org/drawingml/2006/main">
              <a:ext uri="{FF2B5EF4-FFF2-40B4-BE49-F238E27FC236}">
                <a16:creationId xmlns:a16="http://schemas.microsoft.com/office/drawing/2014/main" id="{6AC0715F-9BA9-49FF-AA16-B8F49488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66950"/>
            <a:ext cx="4064397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2E89D"/>
          </a:solidFill>
        </p:spPr>
      </p:sp>
      <p:sp>
        <p:nvSpPr>
          <p:cNvPr id="24" name="bar-value-label-0">
            <a:extLst xmlns:a="http://schemas.openxmlformats.org/drawingml/2006/main">
              <a:ext uri="{FF2B5EF4-FFF2-40B4-BE49-F238E27FC236}">
                <a16:creationId xmlns:a16="http://schemas.microsoft.com/office/drawing/2014/main" id="{1C5F7E36-562A-444E-937A-B6ECF564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997" y="2238375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26.95%</a:t>
            </a:r>
          </a:p>
        </p:txBody>
      </p:sp>
      <p:sp>
        <p:nvSpPr>
          <p:cNvPr id="25" name="bar-label-1">
            <a:extLst xmlns:a="http://schemas.openxmlformats.org/drawingml/2006/main">
              <a:ext uri="{FF2B5EF4-FFF2-40B4-BE49-F238E27FC236}">
                <a16:creationId xmlns:a16="http://schemas.microsoft.com/office/drawing/2014/main" id="{D69D3D87-605B-439E-845B-E479595B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Ad 8</a:t>
            </a:r>
          </a:p>
        </p:txBody>
      </p:sp>
      <p:sp>
        <p:nvSpPr>
          <p:cNvPr id="26" name="bar-track-1">
            <a:extLst xmlns:a="http://schemas.openxmlformats.org/drawingml/2006/main">
              <a:ext uri="{FF2B5EF4-FFF2-40B4-BE49-F238E27FC236}">
                <a16:creationId xmlns:a16="http://schemas.microsoft.com/office/drawing/2014/main" id="{D1485F19-C6F5-4065-99C3-0B8927BB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00325"/>
            <a:ext cx="452437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2433"/>
          </a:solidFill>
        </p:spPr>
      </p:sp>
      <p:sp>
        <p:nvSpPr>
          <p:cNvPr id="27" name="bar-value-1">
            <a:extLst xmlns:a="http://schemas.openxmlformats.org/drawingml/2006/main">
              <a:ext uri="{FF2B5EF4-FFF2-40B4-BE49-F238E27FC236}">
                <a16:creationId xmlns:a16="http://schemas.microsoft.com/office/drawing/2014/main" id="{421214C4-AA15-420F-88CC-733C1C15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00325"/>
            <a:ext cx="3153489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4D8FF"/>
          </a:solidFill>
        </p:spPr>
      </p:sp>
      <p:sp>
        <p:nvSpPr>
          <p:cNvPr id="28" name="bar-value-label-1">
            <a:extLst xmlns:a="http://schemas.openxmlformats.org/drawingml/2006/main">
              <a:ext uri="{FF2B5EF4-FFF2-40B4-BE49-F238E27FC236}">
                <a16:creationId xmlns:a16="http://schemas.microsoft.com/office/drawing/2014/main" id="{304EB44A-08C7-4873-844B-F506DEFE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089" y="257175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20.91%</a:t>
            </a:r>
          </a:p>
        </p:txBody>
      </p:sp>
      <p:sp>
        <p:nvSpPr>
          <p:cNvPr id="29" name="bar-label-2">
            <a:extLst xmlns:a="http://schemas.openxmlformats.org/drawingml/2006/main">
              <a:ext uri="{FF2B5EF4-FFF2-40B4-BE49-F238E27FC236}">
                <a16:creationId xmlns:a16="http://schemas.microsoft.com/office/drawing/2014/main" id="{19C637C0-EB9D-4FBF-8783-21A6B2A6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Ad 1</a:t>
            </a:r>
          </a:p>
        </p:txBody>
      </p:sp>
      <p:sp>
        <p:nvSpPr>
          <p:cNvPr id="30" name="bar-track-2">
            <a:extLst xmlns:a="http://schemas.openxmlformats.org/drawingml/2006/main">
              <a:ext uri="{FF2B5EF4-FFF2-40B4-BE49-F238E27FC236}">
                <a16:creationId xmlns:a16="http://schemas.microsoft.com/office/drawing/2014/main" id="{294C0F4D-8B14-4322-A83F-4257C2BE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33700"/>
            <a:ext cx="452437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2433"/>
          </a:solidFill>
        </p:spPr>
      </p:sp>
      <p:sp>
        <p:nvSpPr>
          <p:cNvPr id="31" name="bar-value-2">
            <a:extLst xmlns:a="http://schemas.openxmlformats.org/drawingml/2006/main">
              <a:ext uri="{FF2B5EF4-FFF2-40B4-BE49-F238E27FC236}">
                <a16:creationId xmlns:a16="http://schemas.microsoft.com/office/drawing/2014/main" id="{DF6E02A1-61E7-4251-BCBC-B2912F52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33700"/>
            <a:ext cx="2568337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9A5CFF"/>
          </a:solidFill>
        </p:spPr>
      </p:sp>
      <p:sp>
        <p:nvSpPr>
          <p:cNvPr id="32" name="bar-value-label-2">
            <a:extLst xmlns:a="http://schemas.openxmlformats.org/drawingml/2006/main">
              <a:ext uri="{FF2B5EF4-FFF2-40B4-BE49-F238E27FC236}">
                <a16:creationId xmlns:a16="http://schemas.microsoft.com/office/drawing/2014/main" id="{D13F801D-D350-4F78-AADB-3D89A502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937" y="2905125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17.03%</a:t>
            </a:r>
          </a:p>
        </p:txBody>
      </p:sp>
      <p:sp>
        <p:nvSpPr>
          <p:cNvPr id="33" name="bar-label-3">
            <a:extLst xmlns:a="http://schemas.openxmlformats.org/drawingml/2006/main">
              <a:ext uri="{FF2B5EF4-FFF2-40B4-BE49-F238E27FC236}">
                <a16:creationId xmlns:a16="http://schemas.microsoft.com/office/drawing/2014/main" id="{ED066FB1-D4EF-4B9A-8023-C89B6809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48025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Ad 2</a:t>
            </a:r>
          </a:p>
        </p:txBody>
      </p:sp>
      <p:sp>
        <p:nvSpPr>
          <p:cNvPr id="34" name="bar-track-3">
            <a:extLst xmlns:a="http://schemas.openxmlformats.org/drawingml/2006/main">
              <a:ext uri="{FF2B5EF4-FFF2-40B4-BE49-F238E27FC236}">
                <a16:creationId xmlns:a16="http://schemas.microsoft.com/office/drawing/2014/main" id="{68FE6FE6-9C4B-4943-B842-C380A079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67075"/>
            <a:ext cx="452437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2433"/>
          </a:solidFill>
        </p:spPr>
      </p:sp>
      <p:sp>
        <p:nvSpPr>
          <p:cNvPr id="35" name="bar-value-3">
            <a:extLst xmlns:a="http://schemas.openxmlformats.org/drawingml/2006/main">
              <a:ext uri="{FF2B5EF4-FFF2-40B4-BE49-F238E27FC236}">
                <a16:creationId xmlns:a16="http://schemas.microsoft.com/office/drawing/2014/main" id="{ED40F887-715B-479C-802B-B4C11A26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67075"/>
            <a:ext cx="1953022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9A5CFF"/>
          </a:solidFill>
        </p:spPr>
      </p:sp>
      <p:sp>
        <p:nvSpPr>
          <p:cNvPr id="36" name="bar-value-label-3">
            <a:extLst xmlns:a="http://schemas.openxmlformats.org/drawingml/2006/main">
              <a:ext uri="{FF2B5EF4-FFF2-40B4-BE49-F238E27FC236}">
                <a16:creationId xmlns:a16="http://schemas.microsoft.com/office/drawing/2014/main" id="{D5B43F21-B75A-4AEB-89EE-E676D954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622" y="32385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12.95%</a:t>
            </a:r>
          </a:p>
        </p:txBody>
      </p:sp>
      <p:sp>
        <p:nvSpPr>
          <p:cNvPr id="37" name="bar-label-4">
            <a:extLst xmlns:a="http://schemas.openxmlformats.org/drawingml/2006/main">
              <a:ext uri="{FF2B5EF4-FFF2-40B4-BE49-F238E27FC236}">
                <a16:creationId xmlns:a16="http://schemas.microsoft.com/office/drawing/2014/main" id="{64C8EC93-38B2-43F6-821E-FF43D559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Ad 4</a:t>
            </a:r>
          </a:p>
        </p:txBody>
      </p:sp>
      <p:sp>
        <p:nvSpPr>
          <p:cNvPr id="38" name="bar-track-4">
            <a:extLst xmlns:a="http://schemas.openxmlformats.org/drawingml/2006/main">
              <a:ext uri="{FF2B5EF4-FFF2-40B4-BE49-F238E27FC236}">
                <a16:creationId xmlns:a16="http://schemas.microsoft.com/office/drawing/2014/main" id="{79A98784-0717-48AE-9CA7-DB43884A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00450"/>
            <a:ext cx="452437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2433"/>
          </a:solidFill>
        </p:spPr>
      </p:sp>
      <p:sp>
        <p:nvSpPr>
          <p:cNvPr id="39" name="bar-value-4">
            <a:extLst xmlns:a="http://schemas.openxmlformats.org/drawingml/2006/main">
              <a:ext uri="{FF2B5EF4-FFF2-40B4-BE49-F238E27FC236}">
                <a16:creationId xmlns:a16="http://schemas.microsoft.com/office/drawing/2014/main" id="{B074DCC1-3CBD-4BEE-99CA-AD128B05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00450"/>
            <a:ext cx="1803718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9A5CFF"/>
          </a:solidFill>
        </p:spPr>
      </p:sp>
      <p:sp>
        <p:nvSpPr>
          <p:cNvPr id="40" name="bar-value-label-4">
            <a:extLst xmlns:a="http://schemas.openxmlformats.org/drawingml/2006/main">
              <a:ext uri="{FF2B5EF4-FFF2-40B4-BE49-F238E27FC236}">
                <a16:creationId xmlns:a16="http://schemas.microsoft.com/office/drawing/2014/main" id="{1E3A697A-8BA3-461D-80CC-A7044FBB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318" y="3571875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11.96%</a:t>
            </a:r>
          </a:p>
        </p:txBody>
      </p:sp>
      <p:sp>
        <p:nvSpPr>
          <p:cNvPr id="41" name="bar-label-5">
            <a:extLst xmlns:a="http://schemas.openxmlformats.org/drawingml/2006/main">
              <a:ext uri="{FF2B5EF4-FFF2-40B4-BE49-F238E27FC236}">
                <a16:creationId xmlns:a16="http://schemas.microsoft.com/office/drawing/2014/main" id="{E601141F-208A-446B-9240-05A187B0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Ad 7</a:t>
            </a:r>
          </a:p>
        </p:txBody>
      </p:sp>
      <p:sp>
        <p:nvSpPr>
          <p:cNvPr id="42" name="bar-track-5">
            <a:extLst xmlns:a="http://schemas.openxmlformats.org/drawingml/2006/main">
              <a:ext uri="{FF2B5EF4-FFF2-40B4-BE49-F238E27FC236}">
                <a16:creationId xmlns:a16="http://schemas.microsoft.com/office/drawing/2014/main" id="{942FCCBE-38CB-4FB5-B8BE-CE8EC25B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33825"/>
            <a:ext cx="452437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2433"/>
          </a:solidFill>
        </p:spPr>
      </p:sp>
      <p:sp>
        <p:nvSpPr>
          <p:cNvPr id="43" name="bar-value-5">
            <a:extLst xmlns:a="http://schemas.openxmlformats.org/drawingml/2006/main">
              <a:ext uri="{FF2B5EF4-FFF2-40B4-BE49-F238E27FC236}">
                <a16:creationId xmlns:a16="http://schemas.microsoft.com/office/drawing/2014/main" id="{9C82CD49-EBCE-4194-B565-A7B8D7F1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33825"/>
            <a:ext cx="167703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536273"/>
          </a:solidFill>
        </p:spPr>
      </p:sp>
      <p:sp>
        <p:nvSpPr>
          <p:cNvPr id="44" name="bar-value-label-5">
            <a:extLst xmlns:a="http://schemas.openxmlformats.org/drawingml/2006/main">
              <a:ext uri="{FF2B5EF4-FFF2-40B4-BE49-F238E27FC236}">
                <a16:creationId xmlns:a16="http://schemas.microsoft.com/office/drawing/2014/main" id="{9C59DB41-34C5-4BBB-BA24-309603D6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635" y="390525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11.12%</a:t>
            </a:r>
          </a:p>
        </p:txBody>
      </p:sp>
      <p:sp>
        <p:nvSpPr>
          <p:cNvPr id="45" name="bar-label-6">
            <a:extLst xmlns:a="http://schemas.openxmlformats.org/drawingml/2006/main">
              <a:ext uri="{FF2B5EF4-FFF2-40B4-BE49-F238E27FC236}">
                <a16:creationId xmlns:a16="http://schemas.microsoft.com/office/drawing/2014/main" id="{069CD145-5A6E-43FD-A61F-FBBCAD8F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Ad 9</a:t>
            </a:r>
          </a:p>
        </p:txBody>
      </p:sp>
      <p:sp>
        <p:nvSpPr>
          <p:cNvPr id="46" name="bar-track-6">
            <a:extLst xmlns:a="http://schemas.openxmlformats.org/drawingml/2006/main">
              <a:ext uri="{FF2B5EF4-FFF2-40B4-BE49-F238E27FC236}">
                <a16:creationId xmlns:a16="http://schemas.microsoft.com/office/drawing/2014/main" id="{361BC1D6-453C-4476-8FED-FA5AB37F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67200"/>
            <a:ext cx="452437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2433"/>
          </a:solidFill>
        </p:spPr>
      </p:sp>
      <p:sp>
        <p:nvSpPr>
          <p:cNvPr id="47" name="bar-value-6">
            <a:extLst xmlns:a="http://schemas.openxmlformats.org/drawingml/2006/main">
              <a:ext uri="{FF2B5EF4-FFF2-40B4-BE49-F238E27FC236}">
                <a16:creationId xmlns:a16="http://schemas.microsoft.com/office/drawing/2014/main" id="{9A67E977-6512-45D5-9F22-32C22C99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67200"/>
            <a:ext cx="143573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536273"/>
          </a:solidFill>
        </p:spPr>
      </p:sp>
      <p:sp>
        <p:nvSpPr>
          <p:cNvPr id="48" name="bar-value-label-6">
            <a:extLst xmlns:a="http://schemas.openxmlformats.org/drawingml/2006/main">
              <a:ext uri="{FF2B5EF4-FFF2-40B4-BE49-F238E27FC236}">
                <a16:creationId xmlns:a16="http://schemas.microsoft.com/office/drawing/2014/main" id="{9D22C97B-3F4E-4D98-B608-06DBFC83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335" y="4238625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9.52%</a:t>
            </a:r>
          </a:p>
        </p:txBody>
      </p:sp>
      <p:sp>
        <p:nvSpPr>
          <p:cNvPr id="49" name="bar-label-7">
            <a:extLst xmlns:a="http://schemas.openxmlformats.org/drawingml/2006/main">
              <a:ext uri="{FF2B5EF4-FFF2-40B4-BE49-F238E27FC236}">
                <a16:creationId xmlns:a16="http://schemas.microsoft.com/office/drawing/2014/main" id="{A673CCDB-1A3D-43A7-AC20-B31C9340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81525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Ad 3</a:t>
            </a:r>
          </a:p>
        </p:txBody>
      </p:sp>
      <p:sp>
        <p:nvSpPr>
          <p:cNvPr id="50" name="bar-track-7">
            <a:extLst xmlns:a="http://schemas.openxmlformats.org/drawingml/2006/main">
              <a:ext uri="{FF2B5EF4-FFF2-40B4-BE49-F238E27FC236}">
                <a16:creationId xmlns:a16="http://schemas.microsoft.com/office/drawing/2014/main" id="{C1A3747A-52E5-452B-B53B-33270FAE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00575"/>
            <a:ext cx="452437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2433"/>
          </a:solidFill>
        </p:spPr>
      </p:sp>
      <p:sp>
        <p:nvSpPr>
          <p:cNvPr id="51" name="bar-value-7">
            <a:extLst xmlns:a="http://schemas.openxmlformats.org/drawingml/2006/main">
              <a:ext uri="{FF2B5EF4-FFF2-40B4-BE49-F238E27FC236}">
                <a16:creationId xmlns:a16="http://schemas.microsoft.com/office/drawing/2014/main" id="{16A8C722-8FDF-4F91-8C61-F669B370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00575"/>
            <a:ext cx="109791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536273"/>
          </a:solidFill>
        </p:spPr>
      </p:sp>
      <p:sp>
        <p:nvSpPr>
          <p:cNvPr id="52" name="bar-value-label-7">
            <a:extLst xmlns:a="http://schemas.openxmlformats.org/drawingml/2006/main">
              <a:ext uri="{FF2B5EF4-FFF2-40B4-BE49-F238E27FC236}">
                <a16:creationId xmlns:a16="http://schemas.microsoft.com/office/drawing/2014/main" id="{71402E83-7AD2-4364-89A1-3CFF1BD1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0515" y="45720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7.28%</a:t>
            </a:r>
          </a:p>
        </p:txBody>
      </p:sp>
      <p:sp>
        <p:nvSpPr>
          <p:cNvPr id="53" name="bar-label-8">
            <a:extLst xmlns:a="http://schemas.openxmlformats.org/drawingml/2006/main">
              <a:ext uri="{FF2B5EF4-FFF2-40B4-BE49-F238E27FC236}">
                <a16:creationId xmlns:a16="http://schemas.microsoft.com/office/drawing/2014/main" id="{22C7C7AE-93AF-4984-A5D7-A36BE73B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Ad 10</a:t>
            </a:r>
          </a:p>
        </p:txBody>
      </p:sp>
      <p:sp>
        <p:nvSpPr>
          <p:cNvPr id="54" name="bar-track-8">
            <a:extLst xmlns:a="http://schemas.openxmlformats.org/drawingml/2006/main">
              <a:ext uri="{FF2B5EF4-FFF2-40B4-BE49-F238E27FC236}">
                <a16:creationId xmlns:a16="http://schemas.microsoft.com/office/drawing/2014/main" id="{A667C7C7-037C-49D1-83E0-561035BB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33950"/>
            <a:ext cx="452437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2433"/>
          </a:solidFill>
        </p:spPr>
      </p:sp>
      <p:sp>
        <p:nvSpPr>
          <p:cNvPr id="55" name="bar-value-8">
            <a:extLst xmlns:a="http://schemas.openxmlformats.org/drawingml/2006/main">
              <a:ext uri="{FF2B5EF4-FFF2-40B4-BE49-F238E27FC236}">
                <a16:creationId xmlns:a16="http://schemas.microsoft.com/office/drawing/2014/main" id="{E8BB80D6-E332-46B1-8ABD-817B6631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33950"/>
            <a:ext cx="737473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536273"/>
          </a:solidFill>
        </p:spPr>
      </p:sp>
      <p:sp>
        <p:nvSpPr>
          <p:cNvPr id="56" name="bar-value-label-8">
            <a:extLst xmlns:a="http://schemas.openxmlformats.org/drawingml/2006/main">
              <a:ext uri="{FF2B5EF4-FFF2-40B4-BE49-F238E27FC236}">
                <a16:creationId xmlns:a16="http://schemas.microsoft.com/office/drawing/2014/main" id="{030622D6-B42A-4847-BB85-80DB6A7A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073" y="4905375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4.89%</a:t>
            </a:r>
          </a:p>
        </p:txBody>
      </p:sp>
      <p:sp>
        <p:nvSpPr>
          <p:cNvPr id="57" name="bar-label-9">
            <a:extLst xmlns:a="http://schemas.openxmlformats.org/drawingml/2006/main">
              <a:ext uri="{FF2B5EF4-FFF2-40B4-BE49-F238E27FC236}">
                <a16:creationId xmlns:a16="http://schemas.microsoft.com/office/drawing/2014/main" id="{AD66BB2E-93FA-4761-9A05-C83D843B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48275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Ad 6</a:t>
            </a:r>
          </a:p>
        </p:txBody>
      </p:sp>
      <p:sp>
        <p:nvSpPr>
          <p:cNvPr id="58" name="bar-track-9">
            <a:extLst xmlns:a="http://schemas.openxmlformats.org/drawingml/2006/main">
              <a:ext uri="{FF2B5EF4-FFF2-40B4-BE49-F238E27FC236}">
                <a16:creationId xmlns:a16="http://schemas.microsoft.com/office/drawing/2014/main" id="{086ABC98-45F4-4EB0-8224-D372764A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67325"/>
            <a:ext cx="452437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2433"/>
          </a:solidFill>
        </p:spPr>
      </p:sp>
      <p:sp>
        <p:nvSpPr>
          <p:cNvPr id="59" name="bar-value-9">
            <a:extLst xmlns:a="http://schemas.openxmlformats.org/drawingml/2006/main">
              <a:ext uri="{FF2B5EF4-FFF2-40B4-BE49-F238E27FC236}">
                <a16:creationId xmlns:a16="http://schemas.microsoft.com/office/drawing/2014/main" id="{651315E6-EDB0-4081-8C7E-FAFA9193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67325"/>
            <a:ext cx="190024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536273"/>
          </a:solidFill>
        </p:spPr>
      </p:sp>
      <p:sp>
        <p:nvSpPr>
          <p:cNvPr id="60" name="bar-value-label-9">
            <a:extLst xmlns:a="http://schemas.openxmlformats.org/drawingml/2006/main">
              <a:ext uri="{FF2B5EF4-FFF2-40B4-BE49-F238E27FC236}">
                <a16:creationId xmlns:a16="http://schemas.microsoft.com/office/drawing/2014/main" id="{BFBF979A-A619-43BE-A955-68B25D84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624" y="523875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1.26%</a:t>
            </a:r>
          </a:p>
        </p:txBody>
      </p:sp>
      <p:sp>
        <p:nvSpPr>
          <p:cNvPr id="61" name="chart-insight">
            <a:extLst xmlns:a="http://schemas.openxmlformats.org/drawingml/2006/main">
              <a:ext uri="{FF2B5EF4-FFF2-40B4-BE49-F238E27FC236}">
                <a16:creationId xmlns:a16="http://schemas.microsoft.com/office/drawing/2014/main" id="{A07C46F1-7A4A-4742-A91A-8629AEC9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619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AB4C2"/>
                </a:solidFill>
                <a:latin typeface="Aptos"/>
                <a:ea typeface="Aptos"/>
                <a:cs typeface="Aptos"/>
              </a:defRPr>
            </a:pPr>
            <a:r>
              <a:t>The leading two ads earn 51.8% of the suggested budget because the allocation combines CTR strength with rank.</a:t>
            </a:r>
          </a:p>
        </p:txBody>
      </p:sp>
      <p:sp>
        <p:nvSpPr>
          <p:cNvPr id="6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DADD8910-3654-4B27-B819-A838126C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95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AAB4C2"/>
                </a:solidFill>
                <a:latin typeface="Aptos"/>
                <a:ea typeface="Aptos"/>
                <a:cs typeface="Aptos"/>
              </a:defRPr>
            </a:pPr>
            <a:r>
              <a:t>Source: dataset.csv, 10,000 rows; allocation uses GrowKaro rank-weighted CTR logic</a:t>
            </a:r>
          </a:p>
        </p:txBody>
      </p:sp>
      <p:sp>
        <p:nvSpPr>
          <p:cNvPr id="6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3AB5D32-153A-47EF-B329-DF639660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AB4C2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729800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F818DB6-8069-46CD-B23E-02A18080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8FF"/>
          </a:solidFill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0D5DD59-DAD1-4444-8ACC-E9FCEBFF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3048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8FF"/>
                </a:solidFill>
                <a:latin typeface="Aptos"/>
                <a:ea typeface="Aptos"/>
                <a:cs typeface="Aptos"/>
              </a:defRPr>
            </a:pPr>
            <a:r>
              <a:t>PLATFORM SYSTEM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3B154B7-2B0D-4AE6-B969-7ACA98E6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GrowKaro separates a simple client journey from a rigorous learning stack.</a:t>
            </a:r>
          </a:p>
        </p:txBody>
      </p:sp>
      <p:sp>
        <p:nvSpPr>
          <p:cNvPr id="4" name="layer-ui">
            <a:extLst xmlns:a="http://schemas.openxmlformats.org/drawingml/2006/main">
              <a:ext uri="{FF2B5EF4-FFF2-40B4-BE49-F238E27FC236}">
                <a16:creationId xmlns:a16="http://schemas.microsoft.com/office/drawing/2014/main" id="{DEF06103-2A90-4314-8BE8-39F8DF66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2E89D"/>
                </a:solidFill>
                <a:latin typeface="Aptos"/>
                <a:ea typeface="Aptos"/>
                <a:cs typeface="Aptos"/>
              </a:defRPr>
            </a:pPr>
            <a:r>
              <a:t>CLIENT EXPERIENCE</a:t>
            </a:r>
          </a:p>
        </p:txBody>
      </p:sp>
      <p:sp>
        <p:nvSpPr>
          <p:cNvPr id="5" name="layer-api">
            <a:extLst xmlns:a="http://schemas.openxmlformats.org/drawingml/2006/main">
              <a:ext uri="{FF2B5EF4-FFF2-40B4-BE49-F238E27FC236}">
                <a16:creationId xmlns:a16="http://schemas.microsoft.com/office/drawing/2014/main" id="{4904D218-095A-49B5-9001-9BD24493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4785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D8FF"/>
                </a:solidFill>
                <a:latin typeface="Aptos"/>
                <a:ea typeface="Aptos"/>
                <a:cs typeface="Aptos"/>
              </a:defRPr>
            </a:pPr>
            <a:r>
              <a:t>SERVICE LAYER</a:t>
            </a:r>
          </a:p>
        </p:txBody>
      </p:sp>
      <p:sp>
        <p:nvSpPr>
          <p:cNvPr id="6" name="layer-ml">
            <a:extLst xmlns:a="http://schemas.openxmlformats.org/drawingml/2006/main">
              <a:ext uri="{FF2B5EF4-FFF2-40B4-BE49-F238E27FC236}">
                <a16:creationId xmlns:a16="http://schemas.microsoft.com/office/drawing/2014/main" id="{B5F99748-C374-4283-A607-54E6A11B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4785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A5CFF"/>
                </a:solidFill>
                <a:latin typeface="Aptos"/>
                <a:ea typeface="Aptos"/>
                <a:cs typeface="Aptos"/>
              </a:defRPr>
            </a:pPr>
            <a:r>
              <a:t>LEARNING LAYER</a:t>
            </a:r>
          </a:p>
        </p:txBody>
      </p:sp>
      <p:sp>
        <p:nvSpPr>
          <p:cNvPr id="7" name="ui-box">
            <a:extLst xmlns:a="http://schemas.openxmlformats.org/drawingml/2006/main">
              <a:ext uri="{FF2B5EF4-FFF2-40B4-BE49-F238E27FC236}">
                <a16:creationId xmlns:a16="http://schemas.microsoft.com/office/drawing/2014/main" id="{84208128-5AB4-4D84-AA95-0904D674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124200" cy="2057400"/>
          </a:xfrm>
          <a:prstGeom xmlns:a="http://schemas.openxmlformats.org/drawingml/2006/main" prst="roundRect">
            <a:avLst>
              <a:gd name="adj" fmla="val 2315"/>
            </a:avLst>
          </a:prstGeom>
          <a:solidFill xmlns:a="http://schemas.openxmlformats.org/drawingml/2006/main">
            <a:srgbClr val="0E1B29"/>
          </a:solidFill>
          <a:ln xmlns:a="http://schemas.openxmlformats.org/drawingml/2006/main" w="19050">
            <a:solidFill>
              <a:srgbClr val="42E89D"/>
            </a:solidFill>
            <a:prstDash val="solid"/>
          </a:ln>
        </p:spPr>
      </p:sp>
      <p:sp>
        <p:nvSpPr>
          <p:cNvPr id="8" name="ui-accent">
            <a:extLst xmlns:a="http://schemas.openxmlformats.org/drawingml/2006/main">
              <a:ext uri="{FF2B5EF4-FFF2-40B4-BE49-F238E27FC236}">
                <a16:creationId xmlns:a16="http://schemas.microsoft.com/office/drawing/2014/main" id="{D213E92C-FAC2-4B57-9D60-F9815BD1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76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9D"/>
          </a:solidFill>
        </p:spPr>
      </p:sp>
      <p:sp>
        <p:nvSpPr>
          <p:cNvPr id="9" name="ui-label">
            <a:extLst xmlns:a="http://schemas.openxmlformats.org/drawingml/2006/main">
              <a:ext uri="{FF2B5EF4-FFF2-40B4-BE49-F238E27FC236}">
                <a16:creationId xmlns:a16="http://schemas.microsoft.com/office/drawing/2014/main" id="{143E1F43-1A70-46AC-9E7F-4E1386F3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724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Next.js application</a:t>
            </a:r>
          </a:p>
        </p:txBody>
      </p:sp>
      <p:sp>
        <p:nvSpPr>
          <p:cNvPr id="10" name="ui-detail">
            <a:extLst xmlns:a="http://schemas.openxmlformats.org/drawingml/2006/main">
              <a:ext uri="{FF2B5EF4-FFF2-40B4-BE49-F238E27FC236}">
                <a16:creationId xmlns:a16="http://schemas.microsoft.com/office/drawing/2014/main" id="{CFF76906-E240-433B-B199-63E45BF4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57475"/>
            <a:ext cx="27241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AB4C2"/>
                </a:solidFill>
                <a:latin typeface="Aptos"/>
                <a:ea typeface="Aptos"/>
                <a:cs typeface="Aptos"/>
              </a:defRPr>
            </a:pPr>
            <a:r>
              <a:t>Login and signup Dashboard and upload All-ad results Guides and history</a:t>
            </a:r>
          </a:p>
        </p:txBody>
      </p:sp>
      <p:sp>
        <p:nvSpPr>
          <p:cNvPr id="11" name="api-box">
            <a:extLst xmlns:a="http://schemas.openxmlformats.org/drawingml/2006/main">
              <a:ext uri="{FF2B5EF4-FFF2-40B4-BE49-F238E27FC236}">
                <a16:creationId xmlns:a16="http://schemas.microsoft.com/office/drawing/2014/main" id="{03BEB060-D1CF-4C9A-983E-F15FD956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71700"/>
            <a:ext cx="3124200" cy="2057400"/>
          </a:xfrm>
          <a:prstGeom xmlns:a="http://schemas.openxmlformats.org/drawingml/2006/main" prst="roundRect">
            <a:avLst>
              <a:gd name="adj" fmla="val 2315"/>
            </a:avLst>
          </a:prstGeom>
          <a:solidFill xmlns:a="http://schemas.openxmlformats.org/drawingml/2006/main">
            <a:srgbClr val="0E1B29"/>
          </a:solidFill>
          <a:ln xmlns:a="http://schemas.openxmlformats.org/drawingml/2006/main" w="19050">
            <a:solidFill>
              <a:srgbClr val="34D8FF"/>
            </a:solidFill>
            <a:prstDash val="solid"/>
          </a:ln>
        </p:spPr>
      </p:sp>
      <p:sp>
        <p:nvSpPr>
          <p:cNvPr id="12" name="api-accent">
            <a:extLst xmlns:a="http://schemas.openxmlformats.org/drawingml/2006/main">
              <a:ext uri="{FF2B5EF4-FFF2-40B4-BE49-F238E27FC236}">
                <a16:creationId xmlns:a16="http://schemas.microsoft.com/office/drawing/2014/main" id="{9DF3F5DF-B5C9-49F4-A6BA-DC9B19D3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71700"/>
            <a:ext cx="76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8FF"/>
          </a:solidFill>
        </p:spPr>
      </p:sp>
      <p:sp>
        <p:nvSpPr>
          <p:cNvPr id="13" name="api-label">
            <a:extLst xmlns:a="http://schemas.openxmlformats.org/drawingml/2006/main">
              <a:ext uri="{FF2B5EF4-FFF2-40B4-BE49-F238E27FC236}">
                <a16:creationId xmlns:a16="http://schemas.microsoft.com/office/drawing/2014/main" id="{3632D7EC-11F2-4B83-BF2E-FF18ECD7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24100"/>
            <a:ext cx="2724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FastAPI services</a:t>
            </a:r>
          </a:p>
        </p:txBody>
      </p:sp>
      <p:sp>
        <p:nvSpPr>
          <p:cNvPr id="14" name="api-detail">
            <a:extLst xmlns:a="http://schemas.openxmlformats.org/drawingml/2006/main">
              <a:ext uri="{FF2B5EF4-FFF2-40B4-BE49-F238E27FC236}">
                <a16:creationId xmlns:a16="http://schemas.microsoft.com/office/drawing/2014/main" id="{6304544F-3D0C-49F9-876B-434FB827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57475"/>
            <a:ext cx="27241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AB4C2"/>
                </a:solidFill>
                <a:latin typeface="Aptos"/>
                <a:ea typeface="Aptos"/>
                <a:cs typeface="Aptos"/>
              </a:defRPr>
            </a:pPr>
            <a:r>
              <a:t>JWT authentication Dataset validation Training and analytics Simulation and leaderboard</a:t>
            </a:r>
          </a:p>
        </p:txBody>
      </p:sp>
      <p:sp>
        <p:nvSpPr>
          <p:cNvPr id="15" name="ml-box">
            <a:extLst xmlns:a="http://schemas.openxmlformats.org/drawingml/2006/main">
              <a:ext uri="{FF2B5EF4-FFF2-40B4-BE49-F238E27FC236}">
                <a16:creationId xmlns:a16="http://schemas.microsoft.com/office/drawing/2014/main" id="{05AFEAB3-61C5-4AF8-BB89-B3A5A929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71700"/>
            <a:ext cx="3390900" cy="2057400"/>
          </a:xfrm>
          <a:prstGeom xmlns:a="http://schemas.openxmlformats.org/drawingml/2006/main" prst="roundRect">
            <a:avLst>
              <a:gd name="adj" fmla="val 2315"/>
            </a:avLst>
          </a:prstGeom>
          <a:solidFill xmlns:a="http://schemas.openxmlformats.org/drawingml/2006/main">
            <a:srgbClr val="0E1B29"/>
          </a:solidFill>
          <a:ln xmlns:a="http://schemas.openxmlformats.org/drawingml/2006/main" w="19050">
            <a:solidFill>
              <a:srgbClr val="9A5CFF"/>
            </a:solidFill>
            <a:prstDash val="solid"/>
          </a:ln>
        </p:spPr>
      </p:sp>
      <p:sp>
        <p:nvSpPr>
          <p:cNvPr id="16" name="ml-accent">
            <a:extLst xmlns:a="http://schemas.openxmlformats.org/drawingml/2006/main">
              <a:ext uri="{FF2B5EF4-FFF2-40B4-BE49-F238E27FC236}">
                <a16:creationId xmlns:a16="http://schemas.microsoft.com/office/drawing/2014/main" id="{390A7213-A107-48AF-B354-42BE5C5B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71700"/>
            <a:ext cx="76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CFF"/>
          </a:solidFill>
        </p:spPr>
      </p:sp>
      <p:sp>
        <p:nvSpPr>
          <p:cNvPr id="17" name="ml-label">
            <a:extLst xmlns:a="http://schemas.openxmlformats.org/drawingml/2006/main">
              <a:ext uri="{FF2B5EF4-FFF2-40B4-BE49-F238E27FC236}">
                <a16:creationId xmlns:a16="http://schemas.microsoft.com/office/drawing/2014/main" id="{68809D59-F2EE-4E64-8351-80671C16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24100"/>
            <a:ext cx="2990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Bandit intelligence</a:t>
            </a:r>
          </a:p>
        </p:txBody>
      </p:sp>
      <p:sp>
        <p:nvSpPr>
          <p:cNvPr id="18" name="ml-detail">
            <a:extLst xmlns:a="http://schemas.openxmlformats.org/drawingml/2006/main">
              <a:ext uri="{FF2B5EF4-FFF2-40B4-BE49-F238E27FC236}">
                <a16:creationId xmlns:a16="http://schemas.microsoft.com/office/drawing/2014/main" id="{73432477-7245-4CBC-AC9F-1F2D4CA8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57475"/>
            <a:ext cx="29908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AB4C2"/>
                </a:solidFill>
                <a:latin typeface="Aptos"/>
                <a:ea typeface="Aptos"/>
                <a:cs typeface="Aptos"/>
              </a:defRPr>
            </a:pPr>
            <a:r>
              <a:t>Upper Confidence Bound Thompson Sampling Epsilon-greedy Softmax and random baselines</a:t>
            </a:r>
          </a:p>
        </p:txBody>
      </p:sp>
      <p:sp>
        <p:nvSpPr>
          <p:cNvPr id="19" name="flow-ui-api:from-anchor">
            <a:extLst xmlns:a="http://schemas.openxmlformats.org/drawingml/2006/main">
              <a:ext uri="{FF2B5EF4-FFF2-40B4-BE49-F238E27FC236}">
                <a16:creationId xmlns:a16="http://schemas.microsoft.com/office/drawing/2014/main" id="{1D58F329-DAB5-41A5-AA18-CD4F954F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195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flow-ui-api:to-anchor">
            <a:extLst xmlns:a="http://schemas.openxmlformats.org/drawingml/2006/main">
              <a:ext uri="{FF2B5EF4-FFF2-40B4-BE49-F238E27FC236}">
                <a16:creationId xmlns:a16="http://schemas.microsoft.com/office/drawing/2014/main" id="{F25EB03B-F904-42FB-AC12-4586C24E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95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" name="flow-ui-api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3725670" y="3197033"/>
            <a:ext cx="676275" cy="673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2E89D"/>
            </a:solidFill>
            <a:prstDash val="solid"/>
            <a:headEnd type="none" w="med" len="med"/>
          </a:ln>
        </p:spPr>
      </p:cxnSp>
      <p:sp>
        <p:nvSpPr>
          <p:cNvPr id="22" name="flow-api-ml:from-anchor">
            <a:extLst xmlns:a="http://schemas.openxmlformats.org/drawingml/2006/main">
              <a:ext uri="{FF2B5EF4-FFF2-40B4-BE49-F238E27FC236}">
                <a16:creationId xmlns:a16="http://schemas.microsoft.com/office/drawing/2014/main" id="{5907624B-E3BA-464F-BBAE-D48450D5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195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flow-api-ml:to-anchor">
            <a:extLst xmlns:a="http://schemas.openxmlformats.org/drawingml/2006/main">
              <a:ext uri="{FF2B5EF4-FFF2-40B4-BE49-F238E27FC236}">
                <a16:creationId xmlns:a16="http://schemas.microsoft.com/office/drawing/2014/main" id="{97A3F331-2DB0-48A0-B3CC-929AD0A5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95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" name="flow-api-ml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7516620" y="3197033"/>
            <a:ext cx="676275" cy="673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4D8FF"/>
            </a:solidFill>
            <a:prstDash val="solid"/>
            <a:headEnd type="none" w="med" len="med"/>
          </a:ln>
        </p:spPr>
      </p:cxnSp>
      <p:sp>
        <p:nvSpPr>
          <p:cNvPr id="25" name="ops-foundation">
            <a:extLst xmlns:a="http://schemas.openxmlformats.org/drawingml/2006/main">
              <a:ext uri="{FF2B5EF4-FFF2-40B4-BE49-F238E27FC236}">
                <a16:creationId xmlns:a16="http://schemas.microsoft.com/office/drawing/2014/main" id="{5C299F33-7B01-4066-91B2-4E707F44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990600"/>
          </a:xfrm>
          <a:prstGeom xmlns:a="http://schemas.openxmlformats.org/drawingml/2006/main" prst="roundRect">
            <a:avLst>
              <a:gd name="adj" fmla="val 4808"/>
            </a:avLst>
          </a:prstGeom>
          <a:solidFill xmlns:a="http://schemas.openxmlformats.org/drawingml/2006/main">
            <a:srgbClr val="111F2D"/>
          </a:solidFill>
          <a:ln xmlns:a="http://schemas.openxmlformats.org/drawingml/2006/main" w="19050">
            <a:solidFill>
              <a:srgbClr val="263646"/>
            </a:solidFill>
            <a:prstDash val="solid"/>
          </a:ln>
        </p:spPr>
      </p:sp>
      <p:sp>
        <p:nvSpPr>
          <p:cNvPr id="26" name="ops-label">
            <a:extLst xmlns:a="http://schemas.openxmlformats.org/drawingml/2006/main">
              <a:ext uri="{FF2B5EF4-FFF2-40B4-BE49-F238E27FC236}">
                <a16:creationId xmlns:a16="http://schemas.microsoft.com/office/drawing/2014/main" id="{164F6F20-A3FB-4E3F-A2F5-5E0D2ABB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7A6A"/>
                </a:solidFill>
                <a:latin typeface="Aptos"/>
                <a:ea typeface="Aptos"/>
                <a:cs typeface="Aptos"/>
              </a:defRPr>
            </a:pPr>
            <a:r>
              <a:t>OPERATIONS FOUNDATION</a:t>
            </a:r>
          </a:p>
        </p:txBody>
      </p:sp>
      <p:sp>
        <p:nvSpPr>
          <p:cNvPr id="27" name="ops-db">
            <a:extLst xmlns:a="http://schemas.openxmlformats.org/drawingml/2006/main">
              <a:ext uri="{FF2B5EF4-FFF2-40B4-BE49-F238E27FC236}">
                <a16:creationId xmlns:a16="http://schemas.microsoft.com/office/drawing/2014/main" id="{DBEE995C-3AD5-4E46-8489-DBD5F194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81600"/>
            <a:ext cx="2076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SQLAlchemy database</a:t>
            </a:r>
          </a:p>
        </p:txBody>
      </p:sp>
      <p:sp>
        <p:nvSpPr>
          <p:cNvPr id="28" name="ops-rule-1">
            <a:extLst xmlns:a="http://schemas.openxmlformats.org/drawingml/2006/main">
              <a:ext uri="{FF2B5EF4-FFF2-40B4-BE49-F238E27FC236}">
                <a16:creationId xmlns:a16="http://schemas.microsoft.com/office/drawing/2014/main" id="{68E7EA3F-F7C8-4330-864C-FB182902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62525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6"/>
          </a:solidFill>
        </p:spPr>
      </p:sp>
      <p:sp>
        <p:nvSpPr>
          <p:cNvPr id="29" name="ops-jobs">
            <a:extLst xmlns:a="http://schemas.openxmlformats.org/drawingml/2006/main">
              <a:ext uri="{FF2B5EF4-FFF2-40B4-BE49-F238E27FC236}">
                <a16:creationId xmlns:a16="http://schemas.microsoft.com/office/drawing/2014/main" id="{FE01A305-C706-4662-812B-3F3DADD7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81600"/>
            <a:ext cx="2076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Redis + Celery jobs</a:t>
            </a:r>
          </a:p>
        </p:txBody>
      </p:sp>
      <p:sp>
        <p:nvSpPr>
          <p:cNvPr id="30" name="ops-rule-2">
            <a:extLst xmlns:a="http://schemas.openxmlformats.org/drawingml/2006/main">
              <a:ext uri="{FF2B5EF4-FFF2-40B4-BE49-F238E27FC236}">
                <a16:creationId xmlns:a16="http://schemas.microsoft.com/office/drawing/2014/main" id="{123BD2E4-0B6A-4F58-B594-40C4A724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962525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6"/>
          </a:solidFill>
        </p:spPr>
      </p:sp>
      <p:sp>
        <p:nvSpPr>
          <p:cNvPr id="31" name="ops-deploy">
            <a:extLst xmlns:a="http://schemas.openxmlformats.org/drawingml/2006/main">
              <a:ext uri="{FF2B5EF4-FFF2-40B4-BE49-F238E27FC236}">
                <a16:creationId xmlns:a16="http://schemas.microsoft.com/office/drawing/2014/main" id="{77B77E23-7A8C-42C6-B443-5B54116A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8160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Docker + Kubernetes</a:t>
            </a:r>
          </a:p>
        </p:txBody>
      </p:sp>
      <p:sp>
        <p:nvSpPr>
          <p:cNvPr id="32" name="ops-rule-3">
            <a:extLst xmlns:a="http://schemas.openxmlformats.org/drawingml/2006/main">
              <a:ext uri="{FF2B5EF4-FFF2-40B4-BE49-F238E27FC236}">
                <a16:creationId xmlns:a16="http://schemas.microsoft.com/office/drawing/2014/main" id="{71428F8C-7704-4155-AD9E-5EF6D986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962525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6"/>
          </a:solidFill>
        </p:spPr>
      </p:sp>
      <p:sp>
        <p:nvSpPr>
          <p:cNvPr id="33" name="ops-report">
            <a:extLst xmlns:a="http://schemas.openxmlformats.org/drawingml/2006/main">
              <a:ext uri="{FF2B5EF4-FFF2-40B4-BE49-F238E27FC236}">
                <a16:creationId xmlns:a16="http://schemas.microsoft.com/office/drawing/2014/main" id="{0C1593BE-0BE6-485F-97A6-338D619C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18160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PDF result delivery</a:t>
            </a:r>
          </a:p>
        </p:txBody>
      </p:sp>
      <p:sp>
        <p:nvSpPr>
          <p:cNvPr id="34" name="why-label">
            <a:extLst xmlns:a="http://schemas.openxmlformats.org/drawingml/2006/main">
              <a:ext uri="{FF2B5EF4-FFF2-40B4-BE49-F238E27FC236}">
                <a16:creationId xmlns:a16="http://schemas.microsoft.com/office/drawing/2014/main" id="{FB2147C7-F0E2-4FCF-86EA-C217127E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AB4C2"/>
                </a:solidFill>
                <a:latin typeface="Aptos"/>
                <a:ea typeface="Aptos"/>
                <a:cs typeface="Aptos"/>
              </a:defRPr>
            </a:pPr>
            <a:r>
              <a:t>WHY IT MATTERS</a:t>
            </a:r>
          </a:p>
        </p:txBody>
      </p:sp>
      <p:sp>
        <p:nvSpPr>
          <p:cNvPr id="35" name="why-1">
            <a:extLst xmlns:a="http://schemas.openxmlformats.org/drawingml/2006/main">
              <a:ext uri="{FF2B5EF4-FFF2-40B4-BE49-F238E27FC236}">
                <a16:creationId xmlns:a16="http://schemas.microsoft.com/office/drawing/2014/main" id="{B7C2B760-07F8-4A40-B1BB-7060A410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85787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2E89D"/>
                </a:solidFill>
                <a:latin typeface="Aptos"/>
                <a:ea typeface="Aptos"/>
                <a:cs typeface="Aptos"/>
              </a:defRPr>
            </a:pPr>
            <a:r>
              <a:t>Easy adoption</a:t>
            </a:r>
          </a:p>
        </p:txBody>
      </p:sp>
      <p:sp>
        <p:nvSpPr>
          <p:cNvPr id="36" name="why-2">
            <a:extLst xmlns:a="http://schemas.openxmlformats.org/drawingml/2006/main">
              <a:ext uri="{FF2B5EF4-FFF2-40B4-BE49-F238E27FC236}">
                <a16:creationId xmlns:a16="http://schemas.microsoft.com/office/drawing/2014/main" id="{5F0EC7AF-0BAF-4EAC-BD04-D0CBC9C7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57875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D8FF"/>
                </a:solidFill>
                <a:latin typeface="Aptos"/>
                <a:ea typeface="Aptos"/>
                <a:cs typeface="Aptos"/>
              </a:defRPr>
            </a:pPr>
            <a:r>
              <a:t>Isolated histories</a:t>
            </a:r>
          </a:p>
        </p:txBody>
      </p:sp>
      <p:sp>
        <p:nvSpPr>
          <p:cNvPr id="37" name="why-3">
            <a:extLst xmlns:a="http://schemas.openxmlformats.org/drawingml/2006/main">
              <a:ext uri="{FF2B5EF4-FFF2-40B4-BE49-F238E27FC236}">
                <a16:creationId xmlns:a16="http://schemas.microsoft.com/office/drawing/2014/main" id="{8AB9D22F-58D7-47A4-982A-A7040F44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857875"/>
            <a:ext cx="2076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A5CFF"/>
                </a:solidFill>
                <a:latin typeface="Aptos"/>
                <a:ea typeface="Aptos"/>
                <a:cs typeface="Aptos"/>
              </a:defRPr>
            </a:pPr>
            <a:r>
              <a:t>Scalable experiments</a:t>
            </a:r>
          </a:p>
        </p:txBody>
      </p:sp>
      <p:sp>
        <p:nvSpPr>
          <p:cNvPr id="3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A1A669E-336F-44A2-9D5A-476E0C3A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95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AAB4C2"/>
                </a:solidFill>
                <a:latin typeface="Aptos"/>
                <a:ea typeface="Aptos"/>
                <a:cs typeface="Aptos"/>
              </a:defRPr>
            </a:pPr>
            <a:r>
              <a:t>Source: GrowKaro frontend, backend, model, and deployment structure</a:t>
            </a:r>
          </a:p>
        </p:txBody>
      </p:sp>
      <p:sp>
        <p:nvSpPr>
          <p:cNvPr id="3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E5FFB03-C2CF-49EB-B20B-7FE92510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AB4C2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435297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C9BCEEE-C1CF-4B2E-8FCB-58BB2967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34F"/>
          </a:solidFill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8DF6BC7-8A26-4215-9AD6-D8538DBF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3048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834F"/>
                </a:solidFill>
                <a:latin typeface="Aptos"/>
                <a:ea typeface="Aptos"/>
                <a:cs typeface="Aptos"/>
              </a:defRPr>
            </a:pPr>
            <a:r>
              <a:t>SERVICE READINESS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517C5C1A-6D0D-4AF7-8CC2-944E5CCA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144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209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7111D"/>
                </a:solidFill>
                <a:latin typeface="Aptos Display"/>
                <a:ea typeface="Aptos Display"/>
                <a:cs typeface="Aptos Display"/>
              </a:defRPr>
            </a:pPr>
            <a:r>
              <a:t>The product supports both client delivery and operator control.</a:t>
            </a:r>
          </a:p>
        </p:txBody>
      </p:sp>
      <p:sp>
        <p:nvSpPr>
          <p:cNvPr id="4" name="mobile-backdrop">
            <a:extLst xmlns:a="http://schemas.openxmlformats.org/drawingml/2006/main">
              <a:ext uri="{FF2B5EF4-FFF2-40B4-BE49-F238E27FC236}">
                <a16:creationId xmlns:a16="http://schemas.microsoft.com/office/drawing/2014/main" id="{7AF26DA9-4243-4066-AB9C-47DE837B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52600"/>
            <a:ext cx="2514600" cy="3886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0E1B29"/>
          </a:solidFill>
        </p:spPr>
      </p:sp>
      <p:pic>
        <p:nvPicPr>
          <p:cNvPr id="5" name="mobile-produc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7c6cdcc354a83"/>
          <a:stretch xmlns:a="http://schemas.openxmlformats.org/drawingml/2006/main"/>
        </p:blipFill>
        <p:spPr>
          <a:xfrm xmlns:a="http://schemas.openxmlformats.org/drawingml/2006/main">
            <a:off x="9516773" y="1876425"/>
            <a:ext cx="1616654" cy="3638550"/>
          </a:xfrm>
          <a:prstGeom xmlns:a="http://schemas.openxmlformats.org/drawingml/2006/main" prst="roundRect">
            <a:avLst>
              <a:gd name="adj" fmla="val 1709"/>
            </a:avLst>
          </a:prstGeom>
        </p:spPr>
      </p:pic>
      <p:sp>
        <p:nvSpPr>
          <p:cNvPr id="6" name="mobile-caption">
            <a:extLst xmlns:a="http://schemas.openxmlformats.org/drawingml/2006/main">
              <a:ext uri="{FF2B5EF4-FFF2-40B4-BE49-F238E27FC236}">
                <a16:creationId xmlns:a16="http://schemas.microsoft.com/office/drawing/2014/main" id="{66BA5C36-2216-44C2-BA25-111EA8BE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75310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47282"/>
                </a:solidFill>
                <a:latin typeface="Aptos"/>
                <a:ea typeface="Aptos"/>
                <a:cs typeface="Aptos"/>
              </a:defRPr>
            </a:pPr>
            <a:r>
              <a:t>Responsive product experience</a:t>
            </a:r>
          </a:p>
        </p:txBody>
      </p:sp>
      <p:sp>
        <p:nvSpPr>
          <p:cNvPr id="7" name="client-lane-label">
            <a:extLst xmlns:a="http://schemas.openxmlformats.org/drawingml/2006/main">
              <a:ext uri="{FF2B5EF4-FFF2-40B4-BE49-F238E27FC236}">
                <a16:creationId xmlns:a16="http://schemas.microsoft.com/office/drawing/2014/main" id="{669CCCFA-494E-49D3-9A2C-F32B330A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2E89D"/>
                </a:solidFill>
                <a:latin typeface="Aptos"/>
                <a:ea typeface="Aptos"/>
                <a:cs typeface="Aptos"/>
              </a:defRPr>
            </a:pPr>
            <a:r>
              <a:t>CLIENT LANE</a:t>
            </a:r>
          </a:p>
        </p:txBody>
      </p:sp>
      <p:sp>
        <p:nvSpPr>
          <p:cNvPr id="8" name="client-lane-line">
            <a:extLst xmlns:a="http://schemas.openxmlformats.org/drawingml/2006/main">
              <a:ext uri="{FF2B5EF4-FFF2-40B4-BE49-F238E27FC236}">
                <a16:creationId xmlns:a16="http://schemas.microsoft.com/office/drawing/2014/main" id="{655D5952-8662-401C-BB43-54EEA256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333625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1"/>
          </a:solidFill>
        </p:spPr>
      </p:sp>
      <p:sp>
        <p:nvSpPr>
          <p:cNvPr id="9" name="client-lane-0-node">
            <a:extLst xmlns:a="http://schemas.openxmlformats.org/drawingml/2006/main">
              <a:ext uri="{FF2B5EF4-FFF2-40B4-BE49-F238E27FC236}">
                <a16:creationId xmlns:a16="http://schemas.microsoft.com/office/drawing/2014/main" id="{BC8E49F7-2A7B-4A7C-8799-8BA57476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33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9D"/>
          </a:solidFill>
        </p:spPr>
      </p:sp>
      <p:sp>
        <p:nvSpPr>
          <p:cNvPr id="10" name="client-lane-0-num">
            <a:extLst xmlns:a="http://schemas.openxmlformats.org/drawingml/2006/main">
              <a:ext uri="{FF2B5EF4-FFF2-40B4-BE49-F238E27FC236}">
                <a16:creationId xmlns:a16="http://schemas.microsoft.com/office/drawing/2014/main" id="{E0E98082-9894-46C4-8274-1843305F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200275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11" name="client-lane-0-text">
            <a:extLst xmlns:a="http://schemas.openxmlformats.org/drawingml/2006/main">
              <a:ext uri="{FF2B5EF4-FFF2-40B4-BE49-F238E27FC236}">
                <a16:creationId xmlns:a16="http://schemas.microsoft.com/office/drawing/2014/main" id="{3F5956B5-CC56-4C65-973A-65CAD894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0985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Account</a:t>
            </a:r>
          </a:p>
        </p:txBody>
      </p:sp>
      <p:sp>
        <p:nvSpPr>
          <p:cNvPr id="12" name="client-lane-1-node">
            <a:extLst xmlns:a="http://schemas.openxmlformats.org/drawingml/2006/main">
              <a:ext uri="{FF2B5EF4-FFF2-40B4-BE49-F238E27FC236}">
                <a16:creationId xmlns:a16="http://schemas.microsoft.com/office/drawing/2014/main" id="{47947C60-3A79-4347-B400-4E6607A9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33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9D"/>
          </a:solidFill>
        </p:spPr>
      </p:sp>
      <p:sp>
        <p:nvSpPr>
          <p:cNvPr id="13" name="client-lane-1-num">
            <a:extLst xmlns:a="http://schemas.openxmlformats.org/drawingml/2006/main">
              <a:ext uri="{FF2B5EF4-FFF2-40B4-BE49-F238E27FC236}">
                <a16:creationId xmlns:a16="http://schemas.microsoft.com/office/drawing/2014/main" id="{85159F59-4C1A-4469-A221-A4A05C9A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200275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4" name="client-lane-1-text">
            <a:extLst xmlns:a="http://schemas.openxmlformats.org/drawingml/2006/main">
              <a:ext uri="{FF2B5EF4-FFF2-40B4-BE49-F238E27FC236}">
                <a16:creationId xmlns:a16="http://schemas.microsoft.com/office/drawing/2014/main" id="{D02B91F9-A936-43F7-92C3-450620D4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0985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Saved analysis</a:t>
            </a:r>
          </a:p>
        </p:txBody>
      </p:sp>
      <p:sp>
        <p:nvSpPr>
          <p:cNvPr id="15" name="client-lane-2-node">
            <a:extLst xmlns:a="http://schemas.openxmlformats.org/drawingml/2006/main">
              <a:ext uri="{FF2B5EF4-FFF2-40B4-BE49-F238E27FC236}">
                <a16:creationId xmlns:a16="http://schemas.microsoft.com/office/drawing/2014/main" id="{8091224D-04E8-4406-8900-B352D37C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33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9D"/>
          </a:solidFill>
        </p:spPr>
      </p:sp>
      <p:sp>
        <p:nvSpPr>
          <p:cNvPr id="16" name="client-lane-2-num">
            <a:extLst xmlns:a="http://schemas.openxmlformats.org/drawingml/2006/main">
              <a:ext uri="{FF2B5EF4-FFF2-40B4-BE49-F238E27FC236}">
                <a16:creationId xmlns:a16="http://schemas.microsoft.com/office/drawing/2014/main" id="{841F3C71-2DFE-4DD7-847C-9B99E7F3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200275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17" name="client-lane-2-text">
            <a:extLst xmlns:a="http://schemas.openxmlformats.org/drawingml/2006/main">
              <a:ext uri="{FF2B5EF4-FFF2-40B4-BE49-F238E27FC236}">
                <a16:creationId xmlns:a16="http://schemas.microsoft.com/office/drawing/2014/main" id="{2FD248B3-330A-47A5-916F-7100593C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0985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All-ad result</a:t>
            </a:r>
          </a:p>
        </p:txBody>
      </p:sp>
      <p:sp>
        <p:nvSpPr>
          <p:cNvPr id="18" name="client-lane-3-node">
            <a:extLst xmlns:a="http://schemas.openxmlformats.org/drawingml/2006/main">
              <a:ext uri="{FF2B5EF4-FFF2-40B4-BE49-F238E27FC236}">
                <a16:creationId xmlns:a16="http://schemas.microsoft.com/office/drawing/2014/main" id="{51FBE3F5-8DCB-46E5-886E-0915AEE9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33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9D"/>
          </a:solidFill>
        </p:spPr>
      </p:sp>
      <p:sp>
        <p:nvSpPr>
          <p:cNvPr id="19" name="client-lane-3-num">
            <a:extLst xmlns:a="http://schemas.openxmlformats.org/drawingml/2006/main">
              <a:ext uri="{FF2B5EF4-FFF2-40B4-BE49-F238E27FC236}">
                <a16:creationId xmlns:a16="http://schemas.microsoft.com/office/drawing/2014/main" id="{79F52E9A-62D5-44D0-9A05-351B0218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200275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20" name="client-lane-3-text">
            <a:extLst xmlns:a="http://schemas.openxmlformats.org/drawingml/2006/main">
              <a:ext uri="{FF2B5EF4-FFF2-40B4-BE49-F238E27FC236}">
                <a16:creationId xmlns:a16="http://schemas.microsoft.com/office/drawing/2014/main" id="{52F165D5-2A7D-486D-99CF-955EE7E5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0985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Budget plan</a:t>
            </a:r>
          </a:p>
        </p:txBody>
      </p:sp>
      <p:sp>
        <p:nvSpPr>
          <p:cNvPr id="21" name="client-lane-4-node">
            <a:extLst xmlns:a="http://schemas.openxmlformats.org/drawingml/2006/main">
              <a:ext uri="{FF2B5EF4-FFF2-40B4-BE49-F238E27FC236}">
                <a16:creationId xmlns:a16="http://schemas.microsoft.com/office/drawing/2014/main" id="{BE422796-13E6-4FC1-8552-3F92744E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33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9D"/>
          </a:solidFill>
        </p:spPr>
      </p:sp>
      <p:sp>
        <p:nvSpPr>
          <p:cNvPr id="22" name="client-lane-4-num">
            <a:extLst xmlns:a="http://schemas.openxmlformats.org/drawingml/2006/main">
              <a:ext uri="{FF2B5EF4-FFF2-40B4-BE49-F238E27FC236}">
                <a16:creationId xmlns:a16="http://schemas.microsoft.com/office/drawing/2014/main" id="{C63067C8-73A4-4F1C-9584-138FE8D4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200275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23" name="client-lane-4-text">
            <a:extLst xmlns:a="http://schemas.openxmlformats.org/drawingml/2006/main">
              <a:ext uri="{FF2B5EF4-FFF2-40B4-BE49-F238E27FC236}">
                <a16:creationId xmlns:a16="http://schemas.microsoft.com/office/drawing/2014/main" id="{AADB5E1F-F033-4A66-B65D-16ECC9D1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0985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PDF</a:t>
            </a:r>
          </a:p>
        </p:txBody>
      </p:sp>
      <p:sp>
        <p:nvSpPr>
          <p:cNvPr id="24" name="admin-lane-label">
            <a:extLst xmlns:a="http://schemas.openxmlformats.org/drawingml/2006/main">
              <a:ext uri="{FF2B5EF4-FFF2-40B4-BE49-F238E27FC236}">
                <a16:creationId xmlns:a16="http://schemas.microsoft.com/office/drawing/2014/main" id="{F2ADB568-3E79-4E14-ADDC-C42A89F4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A5CFF"/>
                </a:solidFill>
                <a:latin typeface="Aptos"/>
                <a:ea typeface="Aptos"/>
                <a:cs typeface="Aptos"/>
              </a:defRPr>
            </a:pPr>
            <a:r>
              <a:t>ADMIN LANE</a:t>
            </a:r>
          </a:p>
        </p:txBody>
      </p:sp>
      <p:sp>
        <p:nvSpPr>
          <p:cNvPr id="25" name="admin-lane-line">
            <a:extLst xmlns:a="http://schemas.openxmlformats.org/drawingml/2006/main">
              <a:ext uri="{FF2B5EF4-FFF2-40B4-BE49-F238E27FC236}">
                <a16:creationId xmlns:a16="http://schemas.microsoft.com/office/drawing/2014/main" id="{BCB225FD-6FE1-4A50-98ED-C8EEE500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38575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1"/>
          </a:solidFill>
        </p:spPr>
      </p:sp>
      <p:sp>
        <p:nvSpPr>
          <p:cNvPr id="26" name="admin-lane-0-node">
            <a:extLst xmlns:a="http://schemas.openxmlformats.org/drawingml/2006/main">
              <a:ext uri="{FF2B5EF4-FFF2-40B4-BE49-F238E27FC236}">
                <a16:creationId xmlns:a16="http://schemas.microsoft.com/office/drawing/2014/main" id="{0865B00B-C83A-48D4-9683-2DDF7A1A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38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5CFF"/>
          </a:solidFill>
        </p:spPr>
      </p:sp>
      <p:sp>
        <p:nvSpPr>
          <p:cNvPr id="27" name="admin-lane-0-num">
            <a:extLst xmlns:a="http://schemas.openxmlformats.org/drawingml/2006/main">
              <a:ext uri="{FF2B5EF4-FFF2-40B4-BE49-F238E27FC236}">
                <a16:creationId xmlns:a16="http://schemas.microsoft.com/office/drawing/2014/main" id="{5C3B586E-356C-49A6-B313-1AEEA11A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705225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28" name="admin-lane-0-text">
            <a:extLst xmlns:a="http://schemas.openxmlformats.org/drawingml/2006/main">
              <a:ext uri="{FF2B5EF4-FFF2-40B4-BE49-F238E27FC236}">
                <a16:creationId xmlns:a16="http://schemas.microsoft.com/office/drawing/2014/main" id="{822CEB15-ADD4-489F-94D7-143CD1FA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1480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Users</a:t>
            </a:r>
          </a:p>
        </p:txBody>
      </p:sp>
      <p:sp>
        <p:nvSpPr>
          <p:cNvPr id="29" name="admin-lane-1-node">
            <a:extLst xmlns:a="http://schemas.openxmlformats.org/drawingml/2006/main">
              <a:ext uri="{FF2B5EF4-FFF2-40B4-BE49-F238E27FC236}">
                <a16:creationId xmlns:a16="http://schemas.microsoft.com/office/drawing/2014/main" id="{73E574B5-6AD2-4B50-9C5D-45D757BF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38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5CFF"/>
          </a:solidFill>
        </p:spPr>
      </p:sp>
      <p:sp>
        <p:nvSpPr>
          <p:cNvPr id="30" name="admin-lane-1-num">
            <a:extLst xmlns:a="http://schemas.openxmlformats.org/drawingml/2006/main">
              <a:ext uri="{FF2B5EF4-FFF2-40B4-BE49-F238E27FC236}">
                <a16:creationId xmlns:a16="http://schemas.microsoft.com/office/drawing/2014/main" id="{43F25461-628C-4485-A0A8-2EF0D3BA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705225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31" name="admin-lane-1-text">
            <a:extLst xmlns:a="http://schemas.openxmlformats.org/drawingml/2006/main">
              <a:ext uri="{FF2B5EF4-FFF2-40B4-BE49-F238E27FC236}">
                <a16:creationId xmlns:a16="http://schemas.microsoft.com/office/drawing/2014/main" id="{986D54B5-32FD-4CE9-B857-47A08874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1480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Datasets</a:t>
            </a:r>
          </a:p>
        </p:txBody>
      </p:sp>
      <p:sp>
        <p:nvSpPr>
          <p:cNvPr id="32" name="admin-lane-2-node">
            <a:extLst xmlns:a="http://schemas.openxmlformats.org/drawingml/2006/main">
              <a:ext uri="{FF2B5EF4-FFF2-40B4-BE49-F238E27FC236}">
                <a16:creationId xmlns:a16="http://schemas.microsoft.com/office/drawing/2014/main" id="{72F5148E-C29A-4207-8D51-FB366AF0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38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5CFF"/>
          </a:solidFill>
        </p:spPr>
      </p:sp>
      <p:sp>
        <p:nvSpPr>
          <p:cNvPr id="33" name="admin-lane-2-num">
            <a:extLst xmlns:a="http://schemas.openxmlformats.org/drawingml/2006/main">
              <a:ext uri="{FF2B5EF4-FFF2-40B4-BE49-F238E27FC236}">
                <a16:creationId xmlns:a16="http://schemas.microsoft.com/office/drawing/2014/main" id="{E57576AA-5FA4-404E-ACB3-48136D82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705225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34" name="admin-lane-2-text">
            <a:extLst xmlns:a="http://schemas.openxmlformats.org/drawingml/2006/main">
              <a:ext uri="{FF2B5EF4-FFF2-40B4-BE49-F238E27FC236}">
                <a16:creationId xmlns:a16="http://schemas.microsoft.com/office/drawing/2014/main" id="{1BCFDAEB-8E3C-4172-B95E-DF5F9D42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1480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Analysis history</a:t>
            </a:r>
          </a:p>
        </p:txBody>
      </p:sp>
      <p:sp>
        <p:nvSpPr>
          <p:cNvPr id="35" name="admin-lane-3-node">
            <a:extLst xmlns:a="http://schemas.openxmlformats.org/drawingml/2006/main">
              <a:ext uri="{FF2B5EF4-FFF2-40B4-BE49-F238E27FC236}">
                <a16:creationId xmlns:a16="http://schemas.microsoft.com/office/drawing/2014/main" id="{E14983F1-0D08-44EA-9942-5230D910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38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5CFF"/>
          </a:solidFill>
        </p:spPr>
      </p:sp>
      <p:sp>
        <p:nvSpPr>
          <p:cNvPr id="36" name="admin-lane-3-num">
            <a:extLst xmlns:a="http://schemas.openxmlformats.org/drawingml/2006/main">
              <a:ext uri="{FF2B5EF4-FFF2-40B4-BE49-F238E27FC236}">
                <a16:creationId xmlns:a16="http://schemas.microsoft.com/office/drawing/2014/main" id="{80AB4FFD-302D-482D-A9D7-69452BA8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37" name="admin-lane-3-text">
            <a:extLst xmlns:a="http://schemas.openxmlformats.org/drawingml/2006/main">
              <a:ext uri="{FF2B5EF4-FFF2-40B4-BE49-F238E27FC236}">
                <a16:creationId xmlns:a16="http://schemas.microsoft.com/office/drawing/2014/main" id="{EBE9686E-76FA-47EF-99B8-9C7C0469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System view</a:t>
            </a:r>
          </a:p>
        </p:txBody>
      </p:sp>
      <p:sp>
        <p:nvSpPr>
          <p:cNvPr id="38" name="admin-lane-4-node">
            <a:extLst xmlns:a="http://schemas.openxmlformats.org/drawingml/2006/main">
              <a:ext uri="{FF2B5EF4-FFF2-40B4-BE49-F238E27FC236}">
                <a16:creationId xmlns:a16="http://schemas.microsoft.com/office/drawing/2014/main" id="{952733F1-0765-4B47-B6EF-BFCA0899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38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5CFF"/>
          </a:solidFill>
        </p:spPr>
      </p:sp>
      <p:sp>
        <p:nvSpPr>
          <p:cNvPr id="39" name="admin-lane-4-num">
            <a:extLst xmlns:a="http://schemas.openxmlformats.org/drawingml/2006/main">
              <a:ext uri="{FF2B5EF4-FFF2-40B4-BE49-F238E27FC236}">
                <a16:creationId xmlns:a16="http://schemas.microsoft.com/office/drawing/2014/main" id="{4D4CC492-8EFB-4A45-A096-20372BF3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705225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40" name="admin-lane-4-text">
            <a:extLst xmlns:a="http://schemas.openxmlformats.org/drawingml/2006/main">
              <a:ext uri="{FF2B5EF4-FFF2-40B4-BE49-F238E27FC236}">
                <a16:creationId xmlns:a16="http://schemas.microsoft.com/office/drawing/2014/main" id="{663CE05A-4571-441D-9B96-BD533FEF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1480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7111D"/>
                </a:solidFill>
                <a:latin typeface="Aptos"/>
                <a:ea typeface="Aptos"/>
                <a:cs typeface="Aptos"/>
              </a:defRPr>
            </a:pPr>
            <a:r>
              <a:t>Full access</a:t>
            </a:r>
          </a:p>
        </p:txBody>
      </p:sp>
      <p:sp>
        <p:nvSpPr>
          <p:cNvPr id="41" name="guidance-band">
            <a:extLst xmlns:a="http://schemas.openxmlformats.org/drawingml/2006/main">
              <a:ext uri="{FF2B5EF4-FFF2-40B4-BE49-F238E27FC236}">
                <a16:creationId xmlns:a16="http://schemas.microsoft.com/office/drawing/2014/main" id="{6A4B5D06-C5EF-4C91-9506-933BFA8D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7848600" cy="81915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0E1B29"/>
          </a:solidFill>
        </p:spPr>
      </p:sp>
      <p:sp>
        <p:nvSpPr>
          <p:cNvPr id="42" name="guidance-label">
            <a:extLst xmlns:a="http://schemas.openxmlformats.org/drawingml/2006/main">
              <a:ext uri="{FF2B5EF4-FFF2-40B4-BE49-F238E27FC236}">
                <a16:creationId xmlns:a16="http://schemas.microsoft.com/office/drawing/2014/main" id="{D0146CA0-CFC1-403D-97AE-BA32F036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81625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D8FF"/>
                </a:solidFill>
                <a:latin typeface="Aptos"/>
                <a:ea typeface="Aptos"/>
                <a:cs typeface="Aptos"/>
              </a:defRPr>
            </a:pPr>
            <a:r>
              <a:t>GUIDANCE BUILT IN</a:t>
            </a:r>
          </a:p>
        </p:txBody>
      </p:sp>
      <p:sp>
        <p:nvSpPr>
          <p:cNvPr id="43" name="guidance-1">
            <a:extLst xmlns:a="http://schemas.openxmlformats.org/drawingml/2006/main">
              <a:ext uri="{FF2B5EF4-FFF2-40B4-BE49-F238E27FC236}">
                <a16:creationId xmlns:a16="http://schemas.microsoft.com/office/drawing/2014/main" id="{EC4C27EA-6498-4C2B-AC72-219B93FB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1495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Promoter targeting guide</a:t>
            </a:r>
          </a:p>
        </p:txBody>
      </p:sp>
      <p:sp>
        <p:nvSpPr>
          <p:cNvPr id="44" name="guidance-2">
            <a:extLst xmlns:a="http://schemas.openxmlformats.org/drawingml/2006/main">
              <a:ext uri="{FF2B5EF4-FFF2-40B4-BE49-F238E27FC236}">
                <a16:creationId xmlns:a16="http://schemas.microsoft.com/office/drawing/2014/main" id="{58FB64EE-D971-4361-AEC6-F6572DCB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629275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4C2"/>
                </a:solidFill>
                <a:latin typeface="Aptos"/>
                <a:ea typeface="Aptos"/>
                <a:cs typeface="Aptos"/>
              </a:defRPr>
            </a:pPr>
            <a:r>
              <a:t>Ad creation guide</a:t>
            </a:r>
          </a:p>
        </p:txBody>
      </p:sp>
      <p:sp>
        <p:nvSpPr>
          <p:cNvPr id="45" name="guidance-divider">
            <a:extLst xmlns:a="http://schemas.openxmlformats.org/drawingml/2006/main">
              <a:ext uri="{FF2B5EF4-FFF2-40B4-BE49-F238E27FC236}">
                <a16:creationId xmlns:a16="http://schemas.microsoft.com/office/drawing/2014/main" id="{4FD92DEC-EC92-450C-B755-96F00580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39115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6"/>
          </a:solidFill>
        </p:spPr>
      </p:sp>
      <p:sp>
        <p:nvSpPr>
          <p:cNvPr id="46" name="guidance-result">
            <a:extLst xmlns:a="http://schemas.openxmlformats.org/drawingml/2006/main">
              <a:ext uri="{FF2B5EF4-FFF2-40B4-BE49-F238E27FC236}">
                <a16:creationId xmlns:a16="http://schemas.microsoft.com/office/drawing/2014/main" id="{C77C994D-3363-48F4-B746-BB4FCA31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343525"/>
            <a:ext cx="23241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2E89D"/>
                </a:solidFill>
                <a:latin typeface="Aptos"/>
                <a:ea typeface="Aptos"/>
                <a:cs typeface="Aptos"/>
              </a:defRPr>
            </a:pPr>
            <a:r>
              <a:t>Better onboarding means fewer support questions and faster client action.</a:t>
            </a:r>
          </a:p>
        </p:txBody>
      </p:sp>
      <p:sp>
        <p:nvSpPr>
          <p:cNvPr id="4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AF7496E2-7EAA-4ED0-860B-22F10067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95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282"/>
                </a:solidFill>
                <a:latin typeface="Aptos"/>
                <a:ea typeface="Aptos"/>
                <a:cs typeface="Aptos"/>
              </a:defRPr>
            </a:pPr>
            <a:r>
              <a:t>Source: GrowKaro user, admin, history, guide, and export features</a:t>
            </a:r>
          </a:p>
        </p:txBody>
      </p:sp>
      <p:sp>
        <p:nvSpPr>
          <p:cNvPr id="4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F6C3B44-355B-45BC-9429-F62B36F7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282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368712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-violet-edge">
            <a:extLst xmlns:a="http://schemas.openxmlformats.org/drawingml/2006/main">
              <a:ext uri="{FF2B5EF4-FFF2-40B4-BE49-F238E27FC236}">
                <a16:creationId xmlns:a16="http://schemas.microsoft.com/office/drawing/2014/main" id="{4DDE1E38-E370-4D2A-BB40-E0F4F75C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CFF"/>
          </a:solidFill>
        </p:spPr>
      </p:sp>
      <p:pic>
        <p:nvPicPr>
          <p:cNvPr id="2" name="close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806b729b54cda">
            <a:extLst>
              <a:ext uri="{96DAC541-7B7A-43D3-8B79-37D633B846F1}">
                <asvg:svgBlip xmlns:asvg="http://schemas.microsoft.com/office/drawing/2016/SVG/main" r:embed="Rd00947369e3a45a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96450" y="304800"/>
            <a:ext cx="1905000" cy="609600"/>
          </a:xfrm>
          <a:prstGeom xmlns:a="http://schemas.openxmlformats.org/drawingml/2006/main" prst="rect">
            <a:avLst/>
          </a:prstGeom>
        </p:spPr>
      </p:pic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FECB86A-BA32-455B-9BF9-4F6521C2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9D"/>
          </a:solidFill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3FF506A-29E7-4CCA-9B5B-92F52836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3048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2E89D"/>
                </a:solidFill>
                <a:latin typeface="Aptos"/>
                <a:ea typeface="Aptos"/>
                <a:cs typeface="Aptos"/>
              </a:defRPr>
            </a:pPr>
            <a:r>
              <a:t>STRATEGIC DIRECTION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FA6A3896-E06E-4BC8-A4CC-A2CFF1F5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90487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GrowKaro can grow from uploaded data to a continuous campaign decision system.</a:t>
            </a:r>
          </a:p>
        </p:txBody>
      </p:sp>
      <p:sp>
        <p:nvSpPr>
          <p:cNvPr id="6" name="roadmap-axis:from-anchor">
            <a:extLst xmlns:a="http://schemas.openxmlformats.org/drawingml/2006/main">
              <a:ext uri="{FF2B5EF4-FFF2-40B4-BE49-F238E27FC236}">
                <a16:creationId xmlns:a16="http://schemas.microsoft.com/office/drawing/2014/main" id="{83CF7714-8F95-451D-B9D7-9E05EBB8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145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roadmap-axis:to-anchor">
            <a:extLst xmlns:a="http://schemas.openxmlformats.org/drawingml/2006/main">
              <a:ext uri="{FF2B5EF4-FFF2-40B4-BE49-F238E27FC236}">
                <a16:creationId xmlns:a16="http://schemas.microsoft.com/office/drawing/2014/main" id="{56239293-CFDC-4E24-BEC9-DC507C6F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145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" name="roadmap-axis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1096770" y="2415983"/>
            <a:ext cx="8848725" cy="673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63646"/>
            </a:solidFill>
            <a:prstDash val="solid"/>
          </a:ln>
        </p:spPr>
      </p:cxnSp>
      <p:sp>
        <p:nvSpPr>
          <p:cNvPr id="9" name="now-line">
            <a:extLst xmlns:a="http://schemas.openxmlformats.org/drawingml/2006/main">
              <a:ext uri="{FF2B5EF4-FFF2-40B4-BE49-F238E27FC236}">
                <a16:creationId xmlns:a16="http://schemas.microsoft.com/office/drawing/2014/main" id="{F2755138-9B02-49F0-96BD-DD50D39B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19350"/>
            <a:ext cx="19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9D"/>
          </a:solidFill>
        </p:spPr>
      </p:sp>
      <p:sp>
        <p:nvSpPr>
          <p:cNvPr id="10" name="now-dot">
            <a:extLst xmlns:a="http://schemas.openxmlformats.org/drawingml/2006/main">
              <a:ext uri="{FF2B5EF4-FFF2-40B4-BE49-F238E27FC236}">
                <a16:creationId xmlns:a16="http://schemas.microsoft.com/office/drawing/2014/main" id="{0C4F53F8-32E9-42F3-BCBF-B74E4269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33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9D"/>
          </a:solidFill>
        </p:spPr>
      </p:sp>
      <p:sp>
        <p:nvSpPr>
          <p:cNvPr id="11" name="now-label">
            <a:extLst xmlns:a="http://schemas.openxmlformats.org/drawingml/2006/main">
              <a:ext uri="{FF2B5EF4-FFF2-40B4-BE49-F238E27FC236}">
                <a16:creationId xmlns:a16="http://schemas.microsoft.com/office/drawing/2014/main" id="{EB611814-C52A-4E06-9FF3-452FC66B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2E89D"/>
                </a:solidFill>
                <a:latin typeface="Aptos"/>
                <a:ea typeface="Aptos"/>
                <a:cs typeface="Aptos"/>
              </a:defRPr>
            </a:pPr>
            <a:r>
              <a:t>NOW</a:t>
            </a:r>
          </a:p>
        </p:txBody>
      </p:sp>
      <p:sp>
        <p:nvSpPr>
          <p:cNvPr id="12" name="now-headline">
            <a:extLst xmlns:a="http://schemas.openxmlformats.org/drawingml/2006/main">
              <a:ext uri="{FF2B5EF4-FFF2-40B4-BE49-F238E27FC236}">
                <a16:creationId xmlns:a16="http://schemas.microsoft.com/office/drawing/2014/main" id="{9858A593-0397-4A8F-8A94-FEB5843A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24150"/>
            <a:ext cx="2571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Client-ready optimization workflow</a:t>
            </a:r>
          </a:p>
        </p:txBody>
      </p:sp>
      <p:sp>
        <p:nvSpPr>
          <p:cNvPr id="13" name="now-detail">
            <a:extLst xmlns:a="http://schemas.openxmlformats.org/drawingml/2006/main">
              <a:ext uri="{FF2B5EF4-FFF2-40B4-BE49-F238E27FC236}">
                <a16:creationId xmlns:a16="http://schemas.microsoft.com/office/drawing/2014/main" id="{34E02DA4-57F1-4B36-8071-AAAC9DD5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43300"/>
            <a:ext cx="25717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4C2"/>
                </a:solidFill>
                <a:latin typeface="Aptos"/>
                <a:ea typeface="Aptos"/>
                <a:cs typeface="Aptos"/>
              </a:defRPr>
            </a:pPr>
            <a:r>
              <a:t>Authenticated uploads, ranked all-ad results, budget allocation, saved histories, guidance, and PDF delivery.</a:t>
            </a:r>
          </a:p>
        </p:txBody>
      </p:sp>
      <p:sp>
        <p:nvSpPr>
          <p:cNvPr id="14" name="now-status">
            <a:extLst xmlns:a="http://schemas.openxmlformats.org/drawingml/2006/main">
              <a:ext uri="{FF2B5EF4-FFF2-40B4-BE49-F238E27FC236}">
                <a16:creationId xmlns:a16="http://schemas.microsoft.com/office/drawing/2014/main" id="{5AB7A8D6-B39D-49AB-8B02-D22B7139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2E89D"/>
                </a:solidFill>
                <a:latin typeface="Aptos"/>
                <a:ea typeface="Aptos"/>
                <a:cs typeface="Aptos"/>
              </a:defRPr>
            </a:pPr>
            <a:r>
              <a:t>Available in the current application</a:t>
            </a:r>
          </a:p>
        </p:txBody>
      </p:sp>
      <p:sp>
        <p:nvSpPr>
          <p:cNvPr id="15" name="next-line">
            <a:extLst xmlns:a="http://schemas.openxmlformats.org/drawingml/2006/main">
              <a:ext uri="{FF2B5EF4-FFF2-40B4-BE49-F238E27FC236}">
                <a16:creationId xmlns:a16="http://schemas.microsoft.com/office/drawing/2014/main" id="{23CB0FDB-7547-4EB5-AF21-E2E61378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19350"/>
            <a:ext cx="19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8FF"/>
          </a:solidFill>
        </p:spPr>
      </p:sp>
      <p:sp>
        <p:nvSpPr>
          <p:cNvPr id="16" name="next-dot">
            <a:extLst xmlns:a="http://schemas.openxmlformats.org/drawingml/2006/main">
              <a:ext uri="{FF2B5EF4-FFF2-40B4-BE49-F238E27FC236}">
                <a16:creationId xmlns:a16="http://schemas.microsoft.com/office/drawing/2014/main" id="{BA76492D-4C56-47A1-AE08-848AAF0C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8FF"/>
          </a:solidFill>
        </p:spPr>
      </p:sp>
      <p:sp>
        <p:nvSpPr>
          <p:cNvPr id="17" name="next-label">
            <a:extLst xmlns:a="http://schemas.openxmlformats.org/drawingml/2006/main">
              <a:ext uri="{FF2B5EF4-FFF2-40B4-BE49-F238E27FC236}">
                <a16:creationId xmlns:a16="http://schemas.microsoft.com/office/drawing/2014/main" id="{2604A4AB-EEFB-4C8A-8D6E-46F5F36C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D8FF"/>
                </a:solidFill>
                <a:latin typeface="Aptos"/>
                <a:ea typeface="Aptos"/>
                <a:cs typeface="Aptos"/>
              </a:defRPr>
            </a:pPr>
            <a:r>
              <a:t>NEXT</a:t>
            </a:r>
          </a:p>
        </p:txBody>
      </p:sp>
      <p:sp>
        <p:nvSpPr>
          <p:cNvPr id="18" name="next-headline">
            <a:extLst xmlns:a="http://schemas.openxmlformats.org/drawingml/2006/main">
              <a:ext uri="{FF2B5EF4-FFF2-40B4-BE49-F238E27FC236}">
                <a16:creationId xmlns:a16="http://schemas.microsoft.com/office/drawing/2014/main" id="{6F8191C0-4A2B-47BD-B367-2AB9E0CA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2571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Connected campaign feedback</a:t>
            </a:r>
          </a:p>
        </p:txBody>
      </p:sp>
      <p:sp>
        <p:nvSpPr>
          <p:cNvPr id="19" name="next-detail">
            <a:extLst xmlns:a="http://schemas.openxmlformats.org/drawingml/2006/main">
              <a:ext uri="{FF2B5EF4-FFF2-40B4-BE49-F238E27FC236}">
                <a16:creationId xmlns:a16="http://schemas.microsoft.com/office/drawing/2014/main" id="{A019EC02-2414-435E-8B9E-34567E5F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43300"/>
            <a:ext cx="25717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4C2"/>
                </a:solidFill>
                <a:latin typeface="Aptos"/>
                <a:ea typeface="Aptos"/>
                <a:cs typeface="Aptos"/>
              </a:defRPr>
            </a:pPr>
            <a:r>
              <a:t>Add direct ad-platform connectors, conversion events, and scheduled refreshes so recommendations follow live outcomes.</a:t>
            </a:r>
          </a:p>
        </p:txBody>
      </p:sp>
      <p:sp>
        <p:nvSpPr>
          <p:cNvPr id="20" name="next-status">
            <a:extLst xmlns:a="http://schemas.openxmlformats.org/drawingml/2006/main">
              <a:ext uri="{FF2B5EF4-FFF2-40B4-BE49-F238E27FC236}">
                <a16:creationId xmlns:a16="http://schemas.microsoft.com/office/drawing/2014/main" id="{B642B28C-2122-4DF0-9E8A-D0F37931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7200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D8FF"/>
                </a:solidFill>
                <a:latin typeface="Aptos"/>
                <a:ea typeface="Aptos"/>
                <a:cs typeface="Aptos"/>
              </a:defRPr>
            </a:pPr>
            <a:r>
              <a:t>Product expansion opportunity</a:t>
            </a:r>
          </a:p>
        </p:txBody>
      </p:sp>
      <p:sp>
        <p:nvSpPr>
          <p:cNvPr id="21" name="scale-line">
            <a:extLst xmlns:a="http://schemas.openxmlformats.org/drawingml/2006/main">
              <a:ext uri="{FF2B5EF4-FFF2-40B4-BE49-F238E27FC236}">
                <a16:creationId xmlns:a16="http://schemas.microsoft.com/office/drawing/2014/main" id="{D2512022-8D1C-4ADC-B7EC-292FA9BC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19350"/>
            <a:ext cx="19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CFF"/>
          </a:solidFill>
        </p:spPr>
      </p:sp>
      <p:sp>
        <p:nvSpPr>
          <p:cNvPr id="22" name="scale-dot">
            <a:extLst xmlns:a="http://schemas.openxmlformats.org/drawingml/2006/main">
              <a:ext uri="{FF2B5EF4-FFF2-40B4-BE49-F238E27FC236}">
                <a16:creationId xmlns:a16="http://schemas.microsoft.com/office/drawing/2014/main" id="{EFF006A8-F46B-4935-AD99-17F0B8FB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33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5CFF"/>
          </a:solidFill>
        </p:spPr>
      </p:sp>
      <p:sp>
        <p:nvSpPr>
          <p:cNvPr id="23" name="scale-label">
            <a:extLst xmlns:a="http://schemas.openxmlformats.org/drawingml/2006/main">
              <a:ext uri="{FF2B5EF4-FFF2-40B4-BE49-F238E27FC236}">
                <a16:creationId xmlns:a16="http://schemas.microsoft.com/office/drawing/2014/main" id="{B537DAFB-D0C4-4D77-B1B5-FC5DFE12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6695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A5CFF"/>
                </a:solidFill>
                <a:latin typeface="Aptos"/>
                <a:ea typeface="Aptos"/>
                <a:cs typeface="Aptos"/>
              </a:defRPr>
            </a:pPr>
            <a:r>
              <a:t>SCALE</a:t>
            </a:r>
          </a:p>
        </p:txBody>
      </p:sp>
      <p:sp>
        <p:nvSpPr>
          <p:cNvPr id="24" name="scale-headline">
            <a:extLst xmlns:a="http://schemas.openxmlformats.org/drawingml/2006/main">
              <a:ext uri="{FF2B5EF4-FFF2-40B4-BE49-F238E27FC236}">
                <a16:creationId xmlns:a16="http://schemas.microsoft.com/office/drawing/2014/main" id="{6969F910-E06E-4D45-B958-35E335A4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2571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t>Continuous managed decisioning</a:t>
            </a:r>
          </a:p>
        </p:txBody>
      </p:sp>
      <p:sp>
        <p:nvSpPr>
          <p:cNvPr id="25" name="scale-detail">
            <a:extLst xmlns:a="http://schemas.openxmlformats.org/drawingml/2006/main">
              <a:ext uri="{FF2B5EF4-FFF2-40B4-BE49-F238E27FC236}">
                <a16:creationId xmlns:a16="http://schemas.microsoft.com/office/drawing/2014/main" id="{67130309-9476-4F47-B0F0-9B17CE88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25717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4C2"/>
                </a:solidFill>
                <a:latin typeface="Aptos"/>
                <a:ea typeface="Aptos"/>
                <a:cs typeface="Aptos"/>
              </a:defRPr>
            </a:pPr>
            <a:r>
              <a:t>Deploy alerts, multi-client operations, experiment governance, and learning loops that improve with every campaign.</a:t>
            </a:r>
          </a:p>
        </p:txBody>
      </p:sp>
      <p:sp>
        <p:nvSpPr>
          <p:cNvPr id="26" name="scale-status">
            <a:extLst xmlns:a="http://schemas.openxmlformats.org/drawingml/2006/main">
              <a:ext uri="{FF2B5EF4-FFF2-40B4-BE49-F238E27FC236}">
                <a16:creationId xmlns:a16="http://schemas.microsoft.com/office/drawing/2014/main" id="{06BCBED1-A765-4CD1-95FA-80857C3E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A5CFF"/>
                </a:solidFill>
                <a:latin typeface="Aptos"/>
                <a:ea typeface="Aptos"/>
                <a:cs typeface="Aptos"/>
              </a:defRPr>
            </a:pPr>
            <a:r>
              <a:t>Long-term platform direction</a:t>
            </a:r>
          </a:p>
        </p:txBody>
      </p:sp>
      <p:sp>
        <p:nvSpPr>
          <p:cNvPr id="27" name="close-band">
            <a:extLst xmlns:a="http://schemas.openxmlformats.org/drawingml/2006/main">
              <a:ext uri="{FF2B5EF4-FFF2-40B4-BE49-F238E27FC236}">
                <a16:creationId xmlns:a16="http://schemas.microsoft.com/office/drawing/2014/main" id="{C98FCAA2-F430-4DD9-B75F-35235149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42E89D"/>
          </a:solidFill>
        </p:spPr>
      </p:sp>
      <p:sp>
        <p:nvSpPr>
          <p:cNvPr id="28" name="close-cta">
            <a:extLst xmlns:a="http://schemas.openxmlformats.org/drawingml/2006/main">
              <a:ext uri="{FF2B5EF4-FFF2-40B4-BE49-F238E27FC236}">
                <a16:creationId xmlns:a16="http://schemas.microsoft.com/office/drawing/2014/main" id="{6CC8FD49-D903-4E2C-9A8F-A3EFD9C3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76875"/>
            <a:ext cx="10420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7111D"/>
                </a:solidFill>
                <a:latin typeface="Aptos Display"/>
                <a:ea typeface="Aptos Display"/>
                <a:cs typeface="Aptos Display"/>
              </a:defRPr>
            </a:pPr>
            <a:r>
              <a:t>Pilot with real campaign data. Measure decisions, not dashboard visits.</a:t>
            </a:r>
          </a:p>
        </p:txBody>
      </p:sp>
      <p:sp>
        <p:nvSpPr>
          <p:cNvPr id="2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04503CB2-5A9F-4978-BFF7-69B3A9D9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95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AAB4C2"/>
                </a:solidFill>
                <a:latin typeface="Aptos"/>
                <a:ea typeface="Aptos"/>
                <a:cs typeface="Aptos"/>
              </a:defRPr>
            </a:pPr>
            <a:r>
              <a:t>GrowKaro | Current product capabilities and future roadmap</a:t>
            </a:r>
          </a:p>
        </p:txBody>
      </p:sp>
      <p:sp>
        <p:nvSpPr>
          <p:cNvPr id="3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839A696-475E-48CB-B232-6E1E2C82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42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AB4C2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396862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2026-06-10T05:17:00.3480000Z</dcterms:created>
  <dcterms:modified xsi:type="dcterms:W3CDTF">2026-06-10T05:17:00.3480000Z</dcterms:modified>
</coreProperties>
</file>